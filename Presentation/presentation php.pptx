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6256000" cy="9144000"/>
  <p:notesSz cx="9144000" cy="16256000"/>
  <p:embeddedFontLst>
    <p:embeddedFont>
      <p:font typeface="Liter" charset="-122" pitchFamily="34"/>
      <p:regular r:id="rId31"/>
    </p:embeddedFont>
    <p:embeddedFont>
      <p:font typeface="Quattrocento Sans" charset="-122" pitchFamily="34"/>
      <p:regular r:id="rId3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font" Target="fonts/font1.fntdata"/><Relationship Id="rId3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4erbgbvbrrpo/mnt/agents/output/php-professionnalisation/images/6_Abstract_Digital_Coding_Background.png">    </p:cNvPr>
          <p:cNvPicPr>
            <a:picLocks noChangeAspect="1"/>
          </p:cNvPicPr>
          <p:nvPr/>
        </p:nvPicPr>
        <p:blipFill>
          <a:blip r:embed="rId1"/>
          <a:srcRect l="0" r="0" t="873" b="873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1B2E">
                  <a:alpha val="90000"/>
                </a:srgbClr>
              </a:gs>
              <a:gs pos="50000">
                <a:srgbClr val="1E1B2E">
                  <a:alpha val="80000"/>
                </a:srgbClr>
              </a:gs>
              <a:gs pos="100000">
                <a:srgbClr val="1E1B2E">
                  <a:alpha val="90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5" name="Text 2"/>
          <p:cNvSpPr/>
          <p:nvPr/>
        </p:nvSpPr>
        <p:spPr>
          <a:xfrm>
            <a:off x="4318000" y="2921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spc="100" kern="0" dirty="0">
                <a:solidFill>
                  <a:srgbClr val="9B6D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 DE DÉVELOPPEMENT WEB AVANCÉ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778000" y="3429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spc="100" kern="0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Partie B : Professionnalisation</a:t>
            </a:r>
            <a:endParaRPr lang="en-US" sz="4200" dirty="0"/>
          </a:p>
          <a:p>
            <a:pPr algn="ctr">
              <a:lnSpc>
                <a:spcPct val="120000"/>
              </a:lnSpc>
            </a:pPr>
            <a:r>
              <a:rPr lang="en-US" sz="4200" b="1" spc="100" kern="0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 Outils Modernes en PHP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6858000" y="5207000"/>
            <a:ext cx="2540000" cy="254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8" name="Text 5"/>
          <p:cNvSpPr/>
          <p:nvPr/>
        </p:nvSpPr>
        <p:spPr>
          <a:xfrm>
            <a:off x="3048000" y="546100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5F3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 code procédural au code professionnel — Maîtrisez les outils</a:t>
            </a:r>
            <a:endParaRPr lang="en-US" sz="2000" dirty="0"/>
          </a:p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5F3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 concepts du développement PHP moderne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223000" y="6731000"/>
            <a:ext cx="3810000" cy="508000"/>
          </a:xfrm>
          <a:prstGeom prst="roundRect">
            <a:avLst>
              <a:gd name="adj" fmla="val 8000"/>
            </a:avLst>
          </a:prstGeom>
          <a:solidFill>
            <a:srgbClr val="9B6DFF">
              <a:alpha val="18824"/>
            </a:srgbClr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23000" y="6731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200" kern="0" dirty="0">
                <a:solidFill>
                  <a:srgbClr val="9B6D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PHP MODERNE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Sommaire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chapitres pour maîtriser le PHP professionnel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625600"/>
            <a:ext cx="14732000" cy="12700"/>
          </a:xfrm>
          <a:prstGeom prst="rect">
            <a:avLst/>
          </a:prstGeom>
          <a:solidFill>
            <a:srgbClr val="D4CDE0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905000"/>
            <a:ext cx="7175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1905000"/>
            <a:ext cx="63500" cy="13970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0066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9B6D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78000" y="2057400"/>
            <a:ext cx="5905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1B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78000" y="2476500"/>
            <a:ext cx="590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Contexte du projet et objectifs de la Partie 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18500" y="1905000"/>
            <a:ext cx="7175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18500" y="1905000"/>
            <a:ext cx="63500" cy="13970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13" name="Text 11"/>
          <p:cNvSpPr/>
          <p:nvPr/>
        </p:nvSpPr>
        <p:spPr>
          <a:xfrm>
            <a:off x="8572500" y="20066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9B6D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334500" y="2057400"/>
            <a:ext cx="5905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1B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Fonctions natives sur les tableaux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34500" y="2476500"/>
            <a:ext cx="590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array_map et array_filter pour un code optimisé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3556000"/>
            <a:ext cx="7175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2000" y="3556000"/>
            <a:ext cx="63500" cy="13970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36576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9B6D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78000" y="3708400"/>
            <a:ext cx="5905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1B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Fonctions anonymes et closures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78000" y="4127500"/>
            <a:ext cx="590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Closures, arrow functions et syntaxes modernes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318500" y="3556000"/>
            <a:ext cx="7175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18500" y="3556000"/>
            <a:ext cx="63500" cy="13970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23" name="Text 21"/>
          <p:cNvSpPr/>
          <p:nvPr/>
        </p:nvSpPr>
        <p:spPr>
          <a:xfrm>
            <a:off x="8572500" y="36576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9B6D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334500" y="3708400"/>
            <a:ext cx="5905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1B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Composer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334500" y="4127500"/>
            <a:ext cx="590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gestionnaire de dépendances PHP standard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2000" y="5207000"/>
            <a:ext cx="7175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2000" y="5207000"/>
            <a:ext cx="63500" cy="13970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" y="53086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9B6D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778000" y="5359400"/>
            <a:ext cx="5905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1B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Packagist.org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778000" y="5778500"/>
            <a:ext cx="590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référentiel central des packages PHP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318500" y="5207000"/>
            <a:ext cx="7175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18500" y="5207000"/>
            <a:ext cx="63500" cy="13970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33" name="Text 31"/>
          <p:cNvSpPr/>
          <p:nvPr/>
        </p:nvSpPr>
        <p:spPr>
          <a:xfrm>
            <a:off x="8572500" y="53086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9B6D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9334500" y="5359400"/>
            <a:ext cx="5905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1B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Namespaces en PHP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334500" y="5778500"/>
            <a:ext cx="590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Organisation et structuration du code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62000" y="6858000"/>
            <a:ext cx="7175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2000" y="6858000"/>
            <a:ext cx="63500" cy="13970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38" name="Text 36"/>
          <p:cNvSpPr/>
          <p:nvPr/>
        </p:nvSpPr>
        <p:spPr>
          <a:xfrm>
            <a:off x="1016000" y="69596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9B6D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1778000" y="7010400"/>
            <a:ext cx="5905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1B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Améliorations apportées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778000" y="7429500"/>
            <a:ext cx="590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Modernisation concrète du projet wallet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318500" y="6858000"/>
            <a:ext cx="7175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318500" y="6858000"/>
            <a:ext cx="63500" cy="13970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43" name="Text 41"/>
          <p:cNvSpPr/>
          <p:nvPr/>
        </p:nvSpPr>
        <p:spPr>
          <a:xfrm>
            <a:off x="8572500" y="69596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9B6D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9334500" y="7010400"/>
            <a:ext cx="5905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1B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334500" y="7429500"/>
            <a:ext cx="5905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Synthèse et perspectives d'évolution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4erbgbvbrrpo/mnt/agents/output/php-professionnalisation/images/4_3_153_Software_Engineering_Purple.png">    </p:cNvPr>
          <p:cNvPicPr>
            <a:picLocks noChangeAspect="1"/>
          </p:cNvPicPr>
          <p:nvPr/>
        </p:nvPicPr>
        <p:blipFill>
          <a:blip r:embed="rId1"/>
          <a:srcRect l="7527" r="7527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1B2E">
                  <a:alpha val="91000"/>
                </a:srgbClr>
              </a:gs>
              <a:gs pos="60000">
                <a:srgbClr val="1E1B2E">
                  <a:alpha val="80000"/>
                </a:srgbClr>
              </a:gs>
              <a:gs pos="100000">
                <a:srgbClr val="1E1B2E">
                  <a:alpha val="6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381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 spc="100" kern="0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62000" y="4826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Contexte du projet et objectifs de la Partie B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Contexte et objectifs de la Partie 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45720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6000" y="1625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9511" y="179070"/>
                </a:moveTo>
                <a:lnTo>
                  <a:pt x="22860" y="235109"/>
                </a:lnTo>
                <a:lnTo>
                  <a:pt x="22860" y="76200"/>
                </a:lnTo>
                <a:cubicBezTo>
                  <a:pt x="22860" y="48181"/>
                  <a:pt x="43109" y="25400"/>
                  <a:pt x="68016" y="25400"/>
                </a:cubicBezTo>
                <a:lnTo>
                  <a:pt x="165876" y="25400"/>
                </a:lnTo>
                <a:cubicBezTo>
                  <a:pt x="175613" y="25400"/>
                  <a:pt x="185138" y="28972"/>
                  <a:pt x="192969" y="35560"/>
                </a:cubicBezTo>
                <a:lnTo>
                  <a:pt x="220063" y="58420"/>
                </a:lnTo>
                <a:cubicBezTo>
                  <a:pt x="223943" y="61754"/>
                  <a:pt x="228741" y="63500"/>
                  <a:pt x="233609" y="63500"/>
                </a:cubicBezTo>
                <a:lnTo>
                  <a:pt x="316371" y="63500"/>
                </a:lnTo>
                <a:cubicBezTo>
                  <a:pt x="341277" y="63500"/>
                  <a:pt x="361527" y="86281"/>
                  <a:pt x="361527" y="114300"/>
                </a:cubicBezTo>
                <a:lnTo>
                  <a:pt x="361527" y="127000"/>
                </a:lnTo>
                <a:lnTo>
                  <a:pt x="103717" y="127000"/>
                </a:lnTo>
                <a:cubicBezTo>
                  <a:pt x="74577" y="127000"/>
                  <a:pt x="48683" y="147955"/>
                  <a:pt x="39441" y="179070"/>
                </a:cubicBezTo>
                <a:close/>
                <a:moveTo>
                  <a:pt x="337114" y="355600"/>
                </a:moveTo>
                <a:lnTo>
                  <a:pt x="69850" y="355600"/>
                </a:lnTo>
                <a:cubicBezTo>
                  <a:pt x="46708" y="355600"/>
                  <a:pt x="30409" y="330121"/>
                  <a:pt x="37747" y="305435"/>
                </a:cubicBezTo>
                <a:lnTo>
                  <a:pt x="71614" y="191135"/>
                </a:lnTo>
                <a:cubicBezTo>
                  <a:pt x="76200" y="175577"/>
                  <a:pt x="89182" y="165100"/>
                  <a:pt x="103717" y="165100"/>
                </a:cubicBezTo>
                <a:lnTo>
                  <a:pt x="370981" y="165100"/>
                </a:lnTo>
                <a:cubicBezTo>
                  <a:pt x="394123" y="165100"/>
                  <a:pt x="410422" y="190579"/>
                  <a:pt x="403084" y="215265"/>
                </a:cubicBezTo>
                <a:lnTo>
                  <a:pt x="369217" y="329565"/>
                </a:lnTo>
                <a:cubicBezTo>
                  <a:pt x="364631" y="345123"/>
                  <a:pt x="351649" y="355600"/>
                  <a:pt x="337114" y="355600"/>
                </a:cubicBez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7" name="Text 5"/>
          <p:cNvSpPr/>
          <p:nvPr/>
        </p:nvSpPr>
        <p:spPr>
          <a:xfrm>
            <a:off x="1549400" y="1625600"/>
            <a:ext cx="3530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Contexte du projet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16000" y="2222500"/>
            <a:ext cx="406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de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gestion de wallet PHP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passage d'une application basique à une architecture professionnelle moderne.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1397000"/>
            <a:ext cx="45720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69000" y="1625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203200"/>
                </a:moveTo>
                <a:cubicBezTo>
                  <a:pt x="355600" y="119088"/>
                  <a:pt x="287312" y="50800"/>
                  <a:pt x="203200" y="50800"/>
                </a:cubicBezTo>
                <a:cubicBezTo>
                  <a:pt x="119088" y="50800"/>
                  <a:pt x="50800" y="119088"/>
                  <a:pt x="50800" y="203200"/>
                </a:cubicBezTo>
                <a:cubicBezTo>
                  <a:pt x="50800" y="287312"/>
                  <a:pt x="119088" y="355600"/>
                  <a:pt x="203200" y="355600"/>
                </a:cubicBezTo>
                <a:cubicBezTo>
                  <a:pt x="287312" y="355600"/>
                  <a:pt x="355600" y="287312"/>
                  <a:pt x="355600" y="203200"/>
                </a:cubicBezTo>
                <a:close/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03200" y="266700"/>
                </a:moveTo>
                <a:cubicBezTo>
                  <a:pt x="238247" y="266700"/>
                  <a:pt x="266700" y="238247"/>
                  <a:pt x="266700" y="203200"/>
                </a:cubicBezTo>
                <a:cubicBezTo>
                  <a:pt x="266700" y="168153"/>
                  <a:pt x="238247" y="139700"/>
                  <a:pt x="203200" y="139700"/>
                </a:cubicBezTo>
                <a:cubicBezTo>
                  <a:pt x="168153" y="139700"/>
                  <a:pt x="139700" y="168153"/>
                  <a:pt x="139700" y="203200"/>
                </a:cubicBezTo>
                <a:cubicBezTo>
                  <a:pt x="139700" y="238247"/>
                  <a:pt x="168153" y="266700"/>
                  <a:pt x="203200" y="266700"/>
                </a:cubicBezTo>
                <a:close/>
                <a:moveTo>
                  <a:pt x="203200" y="88900"/>
                </a:moveTo>
                <a:cubicBezTo>
                  <a:pt x="266284" y="88900"/>
                  <a:pt x="317500" y="140116"/>
                  <a:pt x="317500" y="203200"/>
                </a:cubicBezTo>
                <a:cubicBezTo>
                  <a:pt x="317500" y="266284"/>
                  <a:pt x="266284" y="317500"/>
                  <a:pt x="203200" y="317500"/>
                </a:cubicBezTo>
                <a:cubicBezTo>
                  <a:pt x="140116" y="317500"/>
                  <a:pt x="88900" y="266284"/>
                  <a:pt x="88900" y="203200"/>
                </a:cubicBezTo>
                <a:cubicBezTo>
                  <a:pt x="88900" y="140116"/>
                  <a:pt x="140116" y="88900"/>
                  <a:pt x="203200" y="88900"/>
                </a:cubicBezTo>
                <a:close/>
                <a:moveTo>
                  <a:pt x="177800" y="203200"/>
                </a:moveTo>
                <a:cubicBezTo>
                  <a:pt x="177800" y="189181"/>
                  <a:pt x="189181" y="177800"/>
                  <a:pt x="203200" y="177800"/>
                </a:cubicBezTo>
                <a:cubicBezTo>
                  <a:pt x="217219" y="177800"/>
                  <a:pt x="228600" y="189181"/>
                  <a:pt x="228600" y="203200"/>
                </a:cubicBezTo>
                <a:cubicBezTo>
                  <a:pt x="228600" y="217219"/>
                  <a:pt x="217219" y="228600"/>
                  <a:pt x="203200" y="228600"/>
                </a:cubicBezTo>
                <a:cubicBezTo>
                  <a:pt x="189181" y="228600"/>
                  <a:pt x="177800" y="217219"/>
                  <a:pt x="177800" y="203200"/>
                </a:cubicBez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11" name="Text 9"/>
          <p:cNvSpPr/>
          <p:nvPr/>
        </p:nvSpPr>
        <p:spPr>
          <a:xfrm>
            <a:off x="6502400" y="1625600"/>
            <a:ext cx="3530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Objectif de la Partie 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69000" y="2222500"/>
            <a:ext cx="406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Moderniser le code existant en adoptant les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standards du développement PHP contemporain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les bonnes pratiques de l'industrie.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1397000"/>
            <a:ext cx="4826000" cy="317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922000" y="1625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564" y="953"/>
                </a:moveTo>
                <a:cubicBezTo>
                  <a:pt x="242570" y="-2937"/>
                  <a:pt x="230082" y="4921"/>
                  <a:pt x="226624" y="18415"/>
                </a:cubicBezTo>
                <a:lnTo>
                  <a:pt x="136313" y="374015"/>
                </a:lnTo>
                <a:cubicBezTo>
                  <a:pt x="132856" y="387509"/>
                  <a:pt x="139841" y="401558"/>
                  <a:pt x="151836" y="405448"/>
                </a:cubicBezTo>
                <a:cubicBezTo>
                  <a:pt x="163830" y="409337"/>
                  <a:pt x="176318" y="401479"/>
                  <a:pt x="179776" y="387985"/>
                </a:cubicBezTo>
                <a:lnTo>
                  <a:pt x="270087" y="32385"/>
                </a:lnTo>
                <a:cubicBezTo>
                  <a:pt x="273544" y="18891"/>
                  <a:pt x="266559" y="4842"/>
                  <a:pt x="254564" y="953"/>
                </a:cubicBezTo>
                <a:close/>
                <a:moveTo>
                  <a:pt x="300143" y="108982"/>
                </a:moveTo>
                <a:cubicBezTo>
                  <a:pt x="291324" y="118904"/>
                  <a:pt x="291324" y="135017"/>
                  <a:pt x="300143" y="144939"/>
                </a:cubicBezTo>
                <a:lnTo>
                  <a:pt x="351931" y="203200"/>
                </a:lnTo>
                <a:lnTo>
                  <a:pt x="300143" y="261461"/>
                </a:lnTo>
                <a:cubicBezTo>
                  <a:pt x="291324" y="271383"/>
                  <a:pt x="291324" y="287496"/>
                  <a:pt x="300143" y="297418"/>
                </a:cubicBezTo>
                <a:cubicBezTo>
                  <a:pt x="308963" y="307340"/>
                  <a:pt x="323286" y="307340"/>
                  <a:pt x="332105" y="297418"/>
                </a:cubicBezTo>
                <a:lnTo>
                  <a:pt x="399838" y="221218"/>
                </a:lnTo>
                <a:cubicBezTo>
                  <a:pt x="408658" y="211296"/>
                  <a:pt x="408658" y="195183"/>
                  <a:pt x="399838" y="185261"/>
                </a:cubicBezTo>
                <a:lnTo>
                  <a:pt x="332105" y="109061"/>
                </a:lnTo>
                <a:cubicBezTo>
                  <a:pt x="323286" y="99139"/>
                  <a:pt x="308963" y="99139"/>
                  <a:pt x="300143" y="109061"/>
                </a:cubicBezTo>
                <a:close/>
                <a:moveTo>
                  <a:pt x="106327" y="108982"/>
                </a:moveTo>
                <a:cubicBezTo>
                  <a:pt x="97508" y="99060"/>
                  <a:pt x="83185" y="99060"/>
                  <a:pt x="74366" y="108982"/>
                </a:cubicBezTo>
                <a:lnTo>
                  <a:pt x="6632" y="185182"/>
                </a:lnTo>
                <a:cubicBezTo>
                  <a:pt x="-2187" y="195104"/>
                  <a:pt x="-2187" y="211217"/>
                  <a:pt x="6632" y="221139"/>
                </a:cubicBezTo>
                <a:lnTo>
                  <a:pt x="74366" y="297339"/>
                </a:lnTo>
                <a:cubicBezTo>
                  <a:pt x="83185" y="307261"/>
                  <a:pt x="97508" y="307261"/>
                  <a:pt x="106327" y="297339"/>
                </a:cubicBezTo>
                <a:cubicBezTo>
                  <a:pt x="115147" y="287417"/>
                  <a:pt x="115147" y="271304"/>
                  <a:pt x="106327" y="261382"/>
                </a:cubicBezTo>
                <a:lnTo>
                  <a:pt x="54539" y="203200"/>
                </a:lnTo>
                <a:lnTo>
                  <a:pt x="106257" y="144939"/>
                </a:lnTo>
                <a:cubicBezTo>
                  <a:pt x="115076" y="135017"/>
                  <a:pt x="115076" y="118904"/>
                  <a:pt x="106257" y="108982"/>
                </a:cubicBez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455400" y="1625600"/>
            <a:ext cx="3784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procédural → moderne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22000" y="2222500"/>
            <a:ext cx="4318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Passage vers des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fonctions avancées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gestionnaire de dépendances, namespaces et séparation des responsabilités.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953000"/>
            <a:ext cx="14732000" cy="3492500"/>
          </a:xfrm>
          <a:prstGeom prst="roundRect">
            <a:avLst>
              <a:gd name="adj" fmla="val 6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43000" y="527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19" name="Text 17"/>
          <p:cNvSpPr/>
          <p:nvPr/>
        </p:nvSpPr>
        <p:spPr>
          <a:xfrm>
            <a:off x="1778000" y="52705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Fondation pour les frameworks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43000" y="5969000"/>
            <a:ext cx="13970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Cette partie pose les </a:t>
            </a:r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fondations essentielles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l'utilisation de frameworks professionnels :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Maîtrise des fonctions de tableau et de la programmation fonctionnelle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Gestion professionnelle des dépendances avec Composer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Organisation du code via les namespaces et l'autoloading PSR-4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Architecture en couches séparant Controller, Service, Repository et Validator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62000" y="8699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100" kern="0" dirty="0">
                <a:solidFill>
                  <a:srgbClr val="8B7D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859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4erbgbvbrrpo/mnt/agents/output/php-professionnalisation/images/4_3_153_Software_Engineering_Purple.png">    </p:cNvPr>
          <p:cNvPicPr>
            <a:picLocks noChangeAspect="1"/>
          </p:cNvPicPr>
          <p:nvPr/>
        </p:nvPicPr>
        <p:blipFill>
          <a:blip r:embed="rId1"/>
          <a:srcRect l="7527" r="7527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1B2E">
                  <a:alpha val="91000"/>
                </a:srgbClr>
              </a:gs>
              <a:gs pos="60000">
                <a:srgbClr val="1E1B2E">
                  <a:alpha val="80000"/>
                </a:srgbClr>
              </a:gs>
              <a:gs pos="100000">
                <a:srgbClr val="1E1B2E">
                  <a:alpha val="6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381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1143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 spc="100" kern="0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Fonctions natives PHP sur les tableaux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62000" y="4826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Optimiser le code avec array_map et array_filter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array_map — Transformation de tableaux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71600"/>
            <a:ext cx="1270000" cy="330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716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spc="100" kern="0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2000" y="1905000"/>
            <a:ext cx="685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Rôle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applique une fonction à chaque élément et retourne un </a:t>
            </a:r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nouveau tableau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avec les résultats.</a:t>
            </a:r>
            <a:endParaRPr lang="en-US" sz="17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Transforme des données 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sans modifier l'original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(immutabilité).</a:t>
            </a:r>
            <a:endParaRPr lang="en-US" sz="17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Code déclaratif, pas de foreach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Lisibilité améliorée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128000" y="1371600"/>
            <a:ext cx="1270000" cy="330200"/>
          </a:xfrm>
          <a:prstGeom prst="roundRect">
            <a:avLst>
              <a:gd name="adj" fmla="val 12000"/>
            </a:avLst>
          </a:prstGeom>
          <a:solidFill>
            <a:srgbClr val="4CAF7D"/>
          </a:solidFill>
          <a:ln/>
        </p:spPr>
      </p:sp>
      <p:sp>
        <p:nvSpPr>
          <p:cNvPr id="9" name="Text 7"/>
          <p:cNvSpPr/>
          <p:nvPr/>
        </p:nvSpPr>
        <p:spPr>
          <a:xfrm>
            <a:off x="8128000" y="13716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spc="100" kern="0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EXEMPLE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8000" y="1841500"/>
            <a:ext cx="7366000" cy="2730500"/>
          </a:xfrm>
          <a:prstGeom prst="roundRect">
            <a:avLst>
              <a:gd name="adj" fmla="val 6000"/>
            </a:avLst>
          </a:prstGeom>
          <a:solidFill>
            <a:srgbClr val="EDE9F2"/>
          </a:solidFill>
          <a:ln w="12700">
            <a:solidFill>
              <a:srgbClr val="D4CD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2000" y="2006600"/>
            <a:ext cx="6858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Transformer des noms en majuscules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5B4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$noms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['alice', 'bob', 'charlie'];</a:t>
            </a:r>
            <a:endParaRPr lang="en-US" sz="1400" dirty="0"/>
          </a:p>
          <a:p>
            <a:pPr algn="l">
              <a:lnSpc>
                <a:spcPct val="160000"/>
              </a:lnSpc>
            </a:pP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5B4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$result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array_map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fn(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5B4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$n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=&gt; 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strtoupper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($n),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$noms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 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['ALICE', 'BOB', 'CHARLIE']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" y="4699000"/>
            <a:ext cx="147320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2000" y="4699000"/>
            <a:ext cx="63500" cy="34290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4889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Points clés à retenir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79500" y="5397500"/>
            <a:ext cx="14097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Retourne un nouveau tableau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le tableau original reste inchangé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Nombre d'arguments variable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peut traiter plusieurs tableaux simultanément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Parfait pour la transformation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convertir, formater, calculer sur chaque élément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S'associe parfaitement avec les arrow functions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fn() pour des callbacks concis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62000" y="86995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100" kern="0" dirty="0">
                <a:solidFill>
                  <a:srgbClr val="8B7D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FONCTIONS NATIVES SUR LES TABLEAUX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859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array_filter — Filtrage de tableaux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71600"/>
            <a:ext cx="1270000" cy="330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716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spc="100" kern="0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2000" y="19050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Rôle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filtre les éléments d'un tableau selon une </a:t>
            </a:r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condition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retourne un nouveau tableau.</a:t>
            </a:r>
            <a:endParaRPr lang="en-US" sz="17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 modifie pas le tableau original — 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immutabilité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préservée.</a:t>
            </a:r>
            <a:endParaRPr lang="en-US" sz="17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Garde uniquement les éléments validant la condition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Par défaut, élimine les valeurs fausses (false, 0, null)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128000" y="1371600"/>
            <a:ext cx="1270000" cy="330200"/>
          </a:xfrm>
          <a:prstGeom prst="roundRect">
            <a:avLst>
              <a:gd name="adj" fmla="val 12000"/>
            </a:avLst>
          </a:prstGeom>
          <a:solidFill>
            <a:srgbClr val="4CAF7D"/>
          </a:solidFill>
          <a:ln/>
        </p:spPr>
      </p:sp>
      <p:sp>
        <p:nvSpPr>
          <p:cNvPr id="9" name="Text 7"/>
          <p:cNvSpPr/>
          <p:nvPr/>
        </p:nvSpPr>
        <p:spPr>
          <a:xfrm>
            <a:off x="8128000" y="13716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spc="100" kern="0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EXEMPLE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8000" y="1841500"/>
            <a:ext cx="7366000" cy="2730500"/>
          </a:xfrm>
          <a:prstGeom prst="roundRect">
            <a:avLst>
              <a:gd name="adj" fmla="val 6000"/>
            </a:avLst>
          </a:prstGeom>
          <a:solidFill>
            <a:srgbClr val="EDE9F2"/>
          </a:solidFill>
          <a:ln w="12700">
            <a:solidFill>
              <a:srgbClr val="D4CD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2000" y="2006600"/>
            <a:ext cx="6858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Filtrer les montants &gt; 100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5B4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$transactions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[50, 150, 80, 200, 30];</a:t>
            </a:r>
            <a:endParaRPr lang="en-US" sz="1400" dirty="0"/>
          </a:p>
          <a:p>
            <a:pPr algn="l">
              <a:lnSpc>
                <a:spcPct val="160000"/>
              </a:lnSpc>
            </a:pP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5B4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$filtrées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array_filter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$transactions,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fn(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5B4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$m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=&gt; $m &gt; 100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 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[150, 200]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" y="4699000"/>
            <a:ext cx="147320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2000" y="4699000"/>
            <a:ext cx="63500" cy="34290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4889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Comportement par défaut (sans callback)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79500" y="5397500"/>
            <a:ext cx="6858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Sans callback, 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array_filter()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élimine les valeurs équivalentes à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</a:t>
            </a:r>
            <a:endParaRPr lang="en-US" sz="16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○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(zéros numériques)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○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""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(chaîne vide)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○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null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○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[]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(tableau vide)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55000" y="5397500"/>
            <a:ext cx="6921500" cy="1270000"/>
          </a:xfrm>
          <a:prstGeom prst="roundRect">
            <a:avLst>
              <a:gd name="adj" fmla="val 6000"/>
            </a:avLst>
          </a:prstGeom>
          <a:solidFill>
            <a:srgbClr val="EDE9F2"/>
          </a:solidFill>
          <a:ln w="12700">
            <a:solidFill>
              <a:srgbClr val="D4CD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9000" y="5524500"/>
            <a:ext cx="6413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5B4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$data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[1, 0, 'a', '', null, true];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5B4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$clean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array_filter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($data);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[1, 'a', true]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2000" y="86995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100" kern="0" dirty="0">
                <a:solidFill>
                  <a:srgbClr val="8B7D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FONCTIONS NATIVES SUR LES TABLEAUX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859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Avantages des fonctions array_*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469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60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92460" y="6251"/>
                </a:moveTo>
                <a:cubicBezTo>
                  <a:pt x="400854" y="-2143"/>
                  <a:pt x="414427" y="-2143"/>
                  <a:pt x="422731" y="6251"/>
                </a:cubicBezTo>
                <a:lnTo>
                  <a:pt x="451306" y="34826"/>
                </a:lnTo>
                <a:cubicBezTo>
                  <a:pt x="459700" y="43220"/>
                  <a:pt x="459700" y="56793"/>
                  <a:pt x="451306" y="65097"/>
                </a:cubicBezTo>
                <a:lnTo>
                  <a:pt x="373618" y="142786"/>
                </a:lnTo>
                <a:lnTo>
                  <a:pt x="408444" y="177611"/>
                </a:lnTo>
                <a:cubicBezTo>
                  <a:pt x="414605" y="183773"/>
                  <a:pt x="416391" y="192971"/>
                  <a:pt x="413087" y="201007"/>
                </a:cubicBezTo>
                <a:cubicBezTo>
                  <a:pt x="409783" y="209044"/>
                  <a:pt x="402015" y="214313"/>
                  <a:pt x="393353" y="214313"/>
                </a:cubicBezTo>
                <a:lnTo>
                  <a:pt x="264765" y="214313"/>
                </a:lnTo>
                <a:cubicBezTo>
                  <a:pt x="252889" y="214313"/>
                  <a:pt x="243334" y="204758"/>
                  <a:pt x="243334" y="192881"/>
                </a:cubicBezTo>
                <a:lnTo>
                  <a:pt x="243334" y="64294"/>
                </a:lnTo>
                <a:cubicBezTo>
                  <a:pt x="243334" y="55632"/>
                  <a:pt x="248513" y="47774"/>
                  <a:pt x="256550" y="44470"/>
                </a:cubicBezTo>
                <a:cubicBezTo>
                  <a:pt x="264587" y="41166"/>
                  <a:pt x="273784" y="42952"/>
                  <a:pt x="279946" y="49113"/>
                </a:cubicBezTo>
                <a:lnTo>
                  <a:pt x="314771" y="83939"/>
                </a:lnTo>
                <a:lnTo>
                  <a:pt x="392460" y="6251"/>
                </a:lnTo>
                <a:close/>
                <a:moveTo>
                  <a:pt x="64740" y="242888"/>
                </a:moveTo>
                <a:lnTo>
                  <a:pt x="193328" y="242888"/>
                </a:lnTo>
                <a:cubicBezTo>
                  <a:pt x="205204" y="242888"/>
                  <a:pt x="214759" y="252442"/>
                  <a:pt x="214759" y="264319"/>
                </a:cubicBezTo>
                <a:lnTo>
                  <a:pt x="214759" y="392906"/>
                </a:lnTo>
                <a:cubicBezTo>
                  <a:pt x="214759" y="401568"/>
                  <a:pt x="209580" y="409426"/>
                  <a:pt x="201543" y="412730"/>
                </a:cubicBezTo>
                <a:cubicBezTo>
                  <a:pt x="193506" y="416034"/>
                  <a:pt x="184309" y="414248"/>
                  <a:pt x="178147" y="408087"/>
                </a:cubicBezTo>
                <a:lnTo>
                  <a:pt x="143321" y="373261"/>
                </a:lnTo>
                <a:lnTo>
                  <a:pt x="65633" y="450949"/>
                </a:lnTo>
                <a:cubicBezTo>
                  <a:pt x="57239" y="459343"/>
                  <a:pt x="43666" y="459343"/>
                  <a:pt x="35362" y="450949"/>
                </a:cubicBezTo>
                <a:lnTo>
                  <a:pt x="6787" y="422374"/>
                </a:lnTo>
                <a:cubicBezTo>
                  <a:pt x="-1607" y="413980"/>
                  <a:pt x="-1607" y="400407"/>
                  <a:pt x="6787" y="392103"/>
                </a:cubicBezTo>
                <a:lnTo>
                  <a:pt x="84475" y="314414"/>
                </a:lnTo>
                <a:lnTo>
                  <a:pt x="49649" y="279589"/>
                </a:lnTo>
                <a:cubicBezTo>
                  <a:pt x="43488" y="273427"/>
                  <a:pt x="41702" y="264229"/>
                  <a:pt x="45006" y="256193"/>
                </a:cubicBezTo>
                <a:cubicBezTo>
                  <a:pt x="48310" y="248156"/>
                  <a:pt x="56078" y="242888"/>
                  <a:pt x="64740" y="242888"/>
                </a:cubicBez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286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plus court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2768600"/>
            <a:ext cx="4191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Une seule ligne remplace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à 5 lignes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boucle foreach classique.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Moins de code = moins de bugs potentiels.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397000"/>
            <a:ext cx="469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25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28575"/>
                </a:moveTo>
                <a:cubicBezTo>
                  <a:pt x="164465" y="28575"/>
                  <a:pt x="113109" y="61436"/>
                  <a:pt x="75724" y="100548"/>
                </a:cubicBezTo>
                <a:cubicBezTo>
                  <a:pt x="38576" y="139392"/>
                  <a:pt x="13732" y="185738"/>
                  <a:pt x="1905" y="217616"/>
                </a:cubicBezTo>
                <a:cubicBezTo>
                  <a:pt x="-714" y="224671"/>
                  <a:pt x="-714" y="232529"/>
                  <a:pt x="1905" y="239584"/>
                </a:cubicBezTo>
                <a:cubicBezTo>
                  <a:pt x="13732" y="271463"/>
                  <a:pt x="38576" y="317897"/>
                  <a:pt x="75724" y="356652"/>
                </a:cubicBezTo>
                <a:cubicBezTo>
                  <a:pt x="113109" y="395674"/>
                  <a:pt x="164465" y="428625"/>
                  <a:pt x="228600" y="428625"/>
                </a:cubicBezTo>
                <a:cubicBezTo>
                  <a:pt x="292735" y="428625"/>
                  <a:pt x="344091" y="395764"/>
                  <a:pt x="381476" y="356652"/>
                </a:cubicBezTo>
                <a:cubicBezTo>
                  <a:pt x="418624" y="317808"/>
                  <a:pt x="443468" y="271463"/>
                  <a:pt x="455295" y="239584"/>
                </a:cubicBezTo>
                <a:cubicBezTo>
                  <a:pt x="457914" y="232529"/>
                  <a:pt x="457914" y="224671"/>
                  <a:pt x="455295" y="217616"/>
                </a:cubicBezTo>
                <a:cubicBezTo>
                  <a:pt x="443468" y="185737"/>
                  <a:pt x="418624" y="139303"/>
                  <a:pt x="381476" y="100548"/>
                </a:cubicBezTo>
                <a:cubicBezTo>
                  <a:pt x="344091" y="61526"/>
                  <a:pt x="292735" y="28575"/>
                  <a:pt x="228600" y="28575"/>
                </a:cubicBezTo>
                <a:close/>
                <a:moveTo>
                  <a:pt x="114300" y="228600"/>
                </a:moveTo>
                <a:cubicBezTo>
                  <a:pt x="114300" y="157631"/>
                  <a:pt x="165516" y="100013"/>
                  <a:pt x="228600" y="100013"/>
                </a:cubicBezTo>
                <a:cubicBezTo>
                  <a:pt x="291684" y="100013"/>
                  <a:pt x="342900" y="157631"/>
                  <a:pt x="342900" y="228600"/>
                </a:cubicBezTo>
                <a:cubicBezTo>
                  <a:pt x="342900" y="299569"/>
                  <a:pt x="291684" y="357188"/>
                  <a:pt x="228600" y="357188"/>
                </a:cubicBezTo>
                <a:cubicBezTo>
                  <a:pt x="165516" y="357188"/>
                  <a:pt x="114300" y="299569"/>
                  <a:pt x="114300" y="228600"/>
                </a:cubicBezTo>
                <a:close/>
                <a:moveTo>
                  <a:pt x="228600" y="171450"/>
                </a:moveTo>
                <a:cubicBezTo>
                  <a:pt x="228600" y="202972"/>
                  <a:pt x="205819" y="228600"/>
                  <a:pt x="177800" y="228600"/>
                </a:cubicBezTo>
                <a:cubicBezTo>
                  <a:pt x="168672" y="228600"/>
                  <a:pt x="160099" y="225921"/>
                  <a:pt x="152638" y="221099"/>
                </a:cubicBezTo>
                <a:cubicBezTo>
                  <a:pt x="151844" y="230832"/>
                  <a:pt x="152559" y="240834"/>
                  <a:pt x="154940" y="250746"/>
                </a:cubicBezTo>
                <a:cubicBezTo>
                  <a:pt x="165814" y="296466"/>
                  <a:pt x="207645" y="323612"/>
                  <a:pt x="248285" y="311378"/>
                </a:cubicBezTo>
                <a:cubicBezTo>
                  <a:pt x="288925" y="299145"/>
                  <a:pt x="313055" y="252085"/>
                  <a:pt x="302181" y="206365"/>
                </a:cubicBezTo>
                <a:cubicBezTo>
                  <a:pt x="292497" y="165556"/>
                  <a:pt x="258128" y="139571"/>
                  <a:pt x="221933" y="143143"/>
                </a:cubicBezTo>
                <a:cubicBezTo>
                  <a:pt x="226139" y="151448"/>
                  <a:pt x="228600" y="161092"/>
                  <a:pt x="228600" y="171450"/>
                </a:cubicBez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11" name="Text 9"/>
          <p:cNvSpPr/>
          <p:nvPr/>
        </p:nvSpPr>
        <p:spPr>
          <a:xfrm>
            <a:off x="6032500" y="2286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Lisibilité améliorée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32500" y="2768600"/>
            <a:ext cx="4191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L'intention est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immédiatement compréhensible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map = transformer, filter = filtrer.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code devient auto-documenté.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397000"/>
            <a:ext cx="46990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049000" y="1651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35999" y="53578"/>
                </a:moveTo>
                <a:cubicBezTo>
                  <a:pt x="177254" y="-17859"/>
                  <a:pt x="280392" y="-17859"/>
                  <a:pt x="321647" y="53578"/>
                </a:cubicBezTo>
                <a:lnTo>
                  <a:pt x="354955" y="111264"/>
                </a:lnTo>
                <a:lnTo>
                  <a:pt x="379690" y="96976"/>
                </a:lnTo>
                <a:cubicBezTo>
                  <a:pt x="387191" y="92601"/>
                  <a:pt x="396567" y="93226"/>
                  <a:pt x="403443" y="98494"/>
                </a:cubicBezTo>
                <a:cubicBezTo>
                  <a:pt x="410319" y="103763"/>
                  <a:pt x="413355" y="112693"/>
                  <a:pt x="411123" y="121087"/>
                </a:cubicBezTo>
                <a:lnTo>
                  <a:pt x="390138" y="199132"/>
                </a:lnTo>
                <a:cubicBezTo>
                  <a:pt x="387102" y="210562"/>
                  <a:pt x="375315" y="217349"/>
                  <a:pt x="363885" y="214313"/>
                </a:cubicBezTo>
                <a:lnTo>
                  <a:pt x="285839" y="193417"/>
                </a:lnTo>
                <a:cubicBezTo>
                  <a:pt x="277445" y="191185"/>
                  <a:pt x="271284" y="184130"/>
                  <a:pt x="270123" y="175558"/>
                </a:cubicBezTo>
                <a:cubicBezTo>
                  <a:pt x="268962" y="166985"/>
                  <a:pt x="273159" y="158502"/>
                  <a:pt x="280660" y="154216"/>
                </a:cubicBezTo>
                <a:lnTo>
                  <a:pt x="305395" y="139928"/>
                </a:lnTo>
                <a:lnTo>
                  <a:pt x="272088" y="82242"/>
                </a:lnTo>
                <a:cubicBezTo>
                  <a:pt x="252799" y="48935"/>
                  <a:pt x="204758" y="48935"/>
                  <a:pt x="185470" y="82242"/>
                </a:cubicBezTo>
                <a:lnTo>
                  <a:pt x="180737" y="90368"/>
                </a:lnTo>
                <a:cubicBezTo>
                  <a:pt x="172879" y="104031"/>
                  <a:pt x="155377" y="108674"/>
                  <a:pt x="141714" y="100816"/>
                </a:cubicBezTo>
                <a:cubicBezTo>
                  <a:pt x="128052" y="92958"/>
                  <a:pt x="123408" y="75456"/>
                  <a:pt x="131266" y="61704"/>
                </a:cubicBezTo>
                <a:lnTo>
                  <a:pt x="135999" y="53578"/>
                </a:lnTo>
                <a:close/>
                <a:moveTo>
                  <a:pt x="401568" y="249228"/>
                </a:moveTo>
                <a:cubicBezTo>
                  <a:pt x="415230" y="241369"/>
                  <a:pt x="432733" y="246013"/>
                  <a:pt x="440591" y="259675"/>
                </a:cubicBezTo>
                <a:lnTo>
                  <a:pt x="445324" y="267801"/>
                </a:lnTo>
                <a:cubicBezTo>
                  <a:pt x="486579" y="339239"/>
                  <a:pt x="435054" y="428536"/>
                  <a:pt x="352544" y="428536"/>
                </a:cubicBezTo>
                <a:lnTo>
                  <a:pt x="285929" y="428536"/>
                </a:lnTo>
                <a:lnTo>
                  <a:pt x="285929" y="457111"/>
                </a:lnTo>
                <a:cubicBezTo>
                  <a:pt x="285929" y="465773"/>
                  <a:pt x="280749" y="473631"/>
                  <a:pt x="272713" y="476935"/>
                </a:cubicBezTo>
                <a:cubicBezTo>
                  <a:pt x="264676" y="480239"/>
                  <a:pt x="255478" y="478453"/>
                  <a:pt x="249317" y="472291"/>
                </a:cubicBezTo>
                <a:lnTo>
                  <a:pt x="192167" y="415141"/>
                </a:lnTo>
                <a:cubicBezTo>
                  <a:pt x="183773" y="406747"/>
                  <a:pt x="183773" y="393174"/>
                  <a:pt x="192167" y="384870"/>
                </a:cubicBezTo>
                <a:lnTo>
                  <a:pt x="249317" y="327720"/>
                </a:lnTo>
                <a:cubicBezTo>
                  <a:pt x="255478" y="321558"/>
                  <a:pt x="264676" y="319772"/>
                  <a:pt x="272713" y="323076"/>
                </a:cubicBezTo>
                <a:cubicBezTo>
                  <a:pt x="280749" y="326380"/>
                  <a:pt x="285929" y="334238"/>
                  <a:pt x="285929" y="342900"/>
                </a:cubicBezTo>
                <a:lnTo>
                  <a:pt x="285929" y="371475"/>
                </a:lnTo>
                <a:lnTo>
                  <a:pt x="352544" y="371475"/>
                </a:lnTo>
                <a:cubicBezTo>
                  <a:pt x="391031" y="371475"/>
                  <a:pt x="415141" y="329773"/>
                  <a:pt x="395853" y="296466"/>
                </a:cubicBezTo>
                <a:lnTo>
                  <a:pt x="391120" y="288340"/>
                </a:lnTo>
                <a:cubicBezTo>
                  <a:pt x="383262" y="274677"/>
                  <a:pt x="387906" y="257175"/>
                  <a:pt x="401568" y="249317"/>
                </a:cubicBezTo>
                <a:close/>
                <a:moveTo>
                  <a:pt x="45541" y="210205"/>
                </a:moveTo>
                <a:lnTo>
                  <a:pt x="20806" y="195917"/>
                </a:lnTo>
                <a:cubicBezTo>
                  <a:pt x="13305" y="191542"/>
                  <a:pt x="9108" y="183148"/>
                  <a:pt x="10269" y="174575"/>
                </a:cubicBezTo>
                <a:cubicBezTo>
                  <a:pt x="11430" y="166003"/>
                  <a:pt x="17591" y="158948"/>
                  <a:pt x="25985" y="156716"/>
                </a:cubicBezTo>
                <a:lnTo>
                  <a:pt x="104031" y="135731"/>
                </a:lnTo>
                <a:cubicBezTo>
                  <a:pt x="115461" y="132695"/>
                  <a:pt x="127248" y="139482"/>
                  <a:pt x="130284" y="150912"/>
                </a:cubicBezTo>
                <a:lnTo>
                  <a:pt x="151180" y="228957"/>
                </a:lnTo>
                <a:cubicBezTo>
                  <a:pt x="153412" y="237351"/>
                  <a:pt x="150376" y="246191"/>
                  <a:pt x="143500" y="251549"/>
                </a:cubicBezTo>
                <a:cubicBezTo>
                  <a:pt x="136624" y="256907"/>
                  <a:pt x="127248" y="257443"/>
                  <a:pt x="119747" y="253067"/>
                </a:cubicBezTo>
                <a:lnTo>
                  <a:pt x="95012" y="238780"/>
                </a:lnTo>
                <a:lnTo>
                  <a:pt x="61704" y="296466"/>
                </a:lnTo>
                <a:cubicBezTo>
                  <a:pt x="42416" y="329773"/>
                  <a:pt x="66526" y="371475"/>
                  <a:pt x="105013" y="371475"/>
                </a:cubicBezTo>
                <a:lnTo>
                  <a:pt x="114479" y="371475"/>
                </a:lnTo>
                <a:cubicBezTo>
                  <a:pt x="130284" y="371475"/>
                  <a:pt x="143054" y="384244"/>
                  <a:pt x="143054" y="400050"/>
                </a:cubicBezTo>
                <a:cubicBezTo>
                  <a:pt x="143054" y="415856"/>
                  <a:pt x="130284" y="428625"/>
                  <a:pt x="114479" y="428625"/>
                </a:cubicBezTo>
                <a:lnTo>
                  <a:pt x="105013" y="428625"/>
                </a:lnTo>
                <a:cubicBezTo>
                  <a:pt x="22592" y="428625"/>
                  <a:pt x="-28932" y="339328"/>
                  <a:pt x="12323" y="267891"/>
                </a:cubicBezTo>
                <a:lnTo>
                  <a:pt x="45541" y="210205"/>
                </a:ln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049000" y="2286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Moins de boucles foreach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049000" y="2768600"/>
            <a:ext cx="4191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Approche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déclarative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 lieu de l'impérative. Moins de variables temporaires, moins de risques d'erreurs.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207000"/>
            <a:ext cx="14732000" cy="3048000"/>
          </a:xfrm>
          <a:prstGeom prst="roundRect">
            <a:avLst>
              <a:gd name="adj" fmla="val 6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43000" y="552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9986" y="304800"/>
                </a:moveTo>
                <a:cubicBezTo>
                  <a:pt x="317712" y="287099"/>
                  <a:pt x="333163" y="271066"/>
                  <a:pt x="350626" y="257254"/>
                </a:cubicBezTo>
                <a:cubicBezTo>
                  <a:pt x="385233" y="229949"/>
                  <a:pt x="406400" y="193040"/>
                  <a:pt x="406400" y="152400"/>
                </a:cubicBezTo>
                <a:cubicBezTo>
                  <a:pt x="406400" y="68263"/>
                  <a:pt x="315383" y="0"/>
                  <a:pt x="203200" y="0"/>
                </a:cubicBezTo>
                <a:cubicBezTo>
                  <a:pt x="91017" y="0"/>
                  <a:pt x="0" y="68263"/>
                  <a:pt x="0" y="152400"/>
                </a:cubicBezTo>
                <a:cubicBezTo>
                  <a:pt x="0" y="193040"/>
                  <a:pt x="21167" y="229949"/>
                  <a:pt x="55774" y="257254"/>
                </a:cubicBezTo>
                <a:cubicBezTo>
                  <a:pt x="73237" y="271066"/>
                  <a:pt x="88794" y="287099"/>
                  <a:pt x="96414" y="304800"/>
                </a:cubicBezTo>
                <a:lnTo>
                  <a:pt x="309880" y="304800"/>
                </a:lnTo>
                <a:close/>
                <a:moveTo>
                  <a:pt x="304800" y="342900"/>
                </a:moveTo>
                <a:lnTo>
                  <a:pt x="101600" y="342900"/>
                </a:lnTo>
                <a:lnTo>
                  <a:pt x="101600" y="355600"/>
                </a:lnTo>
                <a:cubicBezTo>
                  <a:pt x="101600" y="390684"/>
                  <a:pt x="139488" y="419100"/>
                  <a:pt x="186267" y="419100"/>
                </a:cubicBezTo>
                <a:lnTo>
                  <a:pt x="220133" y="419100"/>
                </a:lnTo>
                <a:cubicBezTo>
                  <a:pt x="266912" y="419100"/>
                  <a:pt x="304800" y="390684"/>
                  <a:pt x="304800" y="355600"/>
                </a:cubicBezTo>
                <a:lnTo>
                  <a:pt x="304800" y="342900"/>
                </a:lnTo>
                <a:close/>
                <a:moveTo>
                  <a:pt x="194733" y="88900"/>
                </a:moveTo>
                <a:cubicBezTo>
                  <a:pt x="152612" y="88900"/>
                  <a:pt x="118533" y="114459"/>
                  <a:pt x="118533" y="146050"/>
                </a:cubicBezTo>
                <a:cubicBezTo>
                  <a:pt x="118533" y="156607"/>
                  <a:pt x="107209" y="165100"/>
                  <a:pt x="93133" y="165100"/>
                </a:cubicBezTo>
                <a:cubicBezTo>
                  <a:pt x="79058" y="165100"/>
                  <a:pt x="67733" y="156607"/>
                  <a:pt x="67733" y="146050"/>
                </a:cubicBezTo>
                <a:cubicBezTo>
                  <a:pt x="67733" y="93424"/>
                  <a:pt x="124566" y="50800"/>
                  <a:pt x="194733" y="50800"/>
                </a:cubicBezTo>
                <a:cubicBezTo>
                  <a:pt x="208809" y="50800"/>
                  <a:pt x="220133" y="59293"/>
                  <a:pt x="220133" y="69850"/>
                </a:cubicBezTo>
                <a:cubicBezTo>
                  <a:pt x="220133" y="80407"/>
                  <a:pt x="208809" y="88900"/>
                  <a:pt x="194733" y="88900"/>
                </a:cubicBez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19" name="Text 17"/>
          <p:cNvSpPr/>
          <p:nvPr/>
        </p:nvSpPr>
        <p:spPr>
          <a:xfrm>
            <a:off x="1714500" y="55245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Approche fonctionnelle moderne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3000" y="6159500"/>
            <a:ext cx="1397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 fonctions 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array_*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alignent votre code sur les </a:t>
            </a:r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standards modernes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 développement PHP :</a:t>
            </a:r>
            <a:endParaRPr lang="en-US" sz="17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Programmation fonctionnelle — immutabilité, fonctions pures, composition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Directement transposable aux frameworks — Laravel Collections, Symfony Finder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PSR-compliant — respect des standards de codage PHP modernes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62000" y="86995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100" kern="0" dirty="0">
                <a:solidFill>
                  <a:srgbClr val="8B7D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FONCTIONS NATIVES SUR LES TABLEAUX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859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4erbgbvbrrpo/mnt/agents/output/php-professionnalisation/images/5_Dark_Abstract_Background_Modern_Technology.png">    </p:cNvPr>
          <p:cNvPicPr>
            <a:picLocks noChangeAspect="1"/>
          </p:cNvPicPr>
          <p:nvPr/>
        </p:nvPicPr>
        <p:blipFill>
          <a:blip r:embed="rId1"/>
          <a:srcRect l="2137" r="2137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1B2E">
                  <a:alpha val="91000"/>
                </a:srgbClr>
              </a:gs>
              <a:gs pos="60000">
                <a:srgbClr val="1E1B2E">
                  <a:alpha val="80000"/>
                </a:srgbClr>
              </a:gs>
              <a:gs pos="100000">
                <a:srgbClr val="1E1B2E">
                  <a:alpha val="6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381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1143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 spc="100" kern="0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Fonctions anonymes, closures et arrow functions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62000" y="4826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Maîtriser les fonctions avancées en PHP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Fonctions anonymes et closures (use)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71600"/>
            <a:ext cx="1270000" cy="330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716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spc="100" kern="0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2000" y="1879600"/>
            <a:ext cx="7112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Fonction anonyme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fonction sans nom, définie à la volée, souvent passée comme argument (callback).</a:t>
            </a:r>
            <a:endParaRPr lang="en-US" sz="17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Closure avec use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permet à une fonction anonyme d'accéder aux 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 externes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à sa portée.</a:t>
            </a:r>
            <a:endParaRPr lang="en-US" sz="17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mot-clé 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capture les variables du contexte parent.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382000" y="1371600"/>
            <a:ext cx="1270000" cy="330200"/>
          </a:xfrm>
          <a:prstGeom prst="roundRect">
            <a:avLst>
              <a:gd name="adj" fmla="val 12000"/>
            </a:avLst>
          </a:prstGeom>
          <a:solidFill>
            <a:srgbClr val="4CAF7D"/>
          </a:solidFill>
          <a:ln/>
        </p:spPr>
      </p:sp>
      <p:sp>
        <p:nvSpPr>
          <p:cNvPr id="9" name="Text 7"/>
          <p:cNvSpPr/>
          <p:nvPr/>
        </p:nvSpPr>
        <p:spPr>
          <a:xfrm>
            <a:off x="8382000" y="13716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spc="100" kern="0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EXEMPLE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82000" y="1841500"/>
            <a:ext cx="7112000" cy="2730500"/>
          </a:xfrm>
          <a:prstGeom prst="roundRect">
            <a:avLst>
              <a:gd name="adj" fmla="val 6000"/>
            </a:avLst>
          </a:prstGeom>
          <a:solidFill>
            <a:srgbClr val="EDE9F2"/>
          </a:solidFill>
          <a:ln w="12700">
            <a:solidFill>
              <a:srgbClr val="D4CD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36000" y="2006600"/>
            <a:ext cx="6604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Closure avec use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5B4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$seuil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100;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5B4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$filtre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($m)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($seuil) {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return $m &gt; $seuil;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};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5B4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$result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array_filter($montants, $filtre);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" y="4699000"/>
            <a:ext cx="147320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2000" y="4699000"/>
            <a:ext cx="63500" cy="34290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4889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 d'utilisation courants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79500" y="5397500"/>
            <a:ext cx="14097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array_map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—  Transformer chaque élément d'un tableau avec une logique personnalisée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array_filter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—  Filtrer selon une condition complexe nécessitant des variables externes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usort / uasort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—  Trier un tableau avec une fonction de comparaison personnalisée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array_reduce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—  Réduire un tableau à une valeur unique (somme, produit, etc.)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set_error_handler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—  Définir un gestionnaire d'erreurs personnalisé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62000" y="86995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100" kern="0" dirty="0">
                <a:solidFill>
                  <a:srgbClr val="8B7D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FONCTIONS ANONYMES ET CLOSURES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859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Arrow functions (fn) et comparaison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arrow functions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(introduites en PHP 7.4) offrent une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syntaxe courte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les fonctions anonymes. Elles capturent automatiquement les variables du scope parent.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2000" y="2387600"/>
            <a:ext cx="1968500" cy="330200"/>
          </a:xfrm>
          <a:prstGeom prst="roundRect">
            <a:avLst>
              <a:gd name="adj" fmla="val 12000"/>
            </a:avLst>
          </a:prstGeom>
          <a:solidFill>
            <a:srgbClr val="9B6DFF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387600"/>
            <a:ext cx="1968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spc="100" kern="0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ARROW FUNCTION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2000" y="2857500"/>
            <a:ext cx="7112000" cy="1879600"/>
          </a:xfrm>
          <a:prstGeom prst="roundRect">
            <a:avLst>
              <a:gd name="adj" fmla="val 6000"/>
            </a:avLst>
          </a:prstGeom>
          <a:solidFill>
            <a:srgbClr val="EDE9F2"/>
          </a:solidFill>
          <a:ln w="12700">
            <a:solidFill>
              <a:srgbClr val="D4C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6000" y="2946400"/>
            <a:ext cx="660400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Syntaxe courte — capture auto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5B4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$seuil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100;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5B4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$filtrées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array_filter(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$montants, fn(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5B4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$m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=&gt; $m &gt; $seuil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82000" y="2387600"/>
            <a:ext cx="1778000" cy="330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</p:spPr>
      </p:sp>
      <p:sp>
        <p:nvSpPr>
          <p:cNvPr id="11" name="Text 9"/>
          <p:cNvSpPr/>
          <p:nvPr/>
        </p:nvSpPr>
        <p:spPr>
          <a:xfrm>
            <a:off x="8382000" y="2387600"/>
            <a:ext cx="177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spc="100" kern="0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CLASSIQUE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82000" y="2857500"/>
            <a:ext cx="7112000" cy="1879600"/>
          </a:xfrm>
          <a:prstGeom prst="roundRect">
            <a:avLst>
              <a:gd name="adj" fmla="val 6000"/>
            </a:avLst>
          </a:prstGeom>
          <a:solidFill>
            <a:srgbClr val="EDE9F2"/>
          </a:solidFill>
          <a:ln w="12700">
            <a:solidFill>
              <a:srgbClr val="D4CD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36000" y="2946400"/>
            <a:ext cx="660400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Syntaxe classique — use requis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5B4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$seuil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100;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5B4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$filtrées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array_filter(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$montants, 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($m)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($seuil) {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return $m &gt; $seuil; }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2000" y="4826000"/>
            <a:ext cx="147320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2000" y="4826000"/>
            <a:ext cx="63500" cy="34290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500" y="4953000"/>
            <a:ext cx="635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function() vs fn() — Comparaison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79500" y="5334000"/>
          <a:ext cx="14097000" cy="2667000"/>
        </p:xfrm>
        <a:graphic>
          <a:graphicData uri="http://schemas.openxmlformats.org/drawingml/2006/table">
            <a:tbl>
              <a:tblPr/>
              <a:tblGrid>
                <a:gridCol w="4229100"/>
                <a:gridCol w="4933950"/>
                <a:gridCol w="493395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Critère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function()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B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fn()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4B8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B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Variables externes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B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Nécessite use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1B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Capture automatique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B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Syntaxe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B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Verbeuse (function + return)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1B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Concise (fn =&gt;)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B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Corps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B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Plusieurs instructions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1B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Une seule expression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B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Usage recommandé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B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Logique complexe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1B2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Callbacks simples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C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7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762000" y="86995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100" kern="0" dirty="0">
                <a:solidFill>
                  <a:srgbClr val="8B7D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FONCTIONS ANONYMES ET CLOSURES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4859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4erbgbvbrrpo/mnt/agents/output/php-professionnalisation/images/4_3_153_Software_Engineering_Purple.png">    </p:cNvPr>
          <p:cNvPicPr>
            <a:picLocks noChangeAspect="1"/>
          </p:cNvPicPr>
          <p:nvPr/>
        </p:nvPicPr>
        <p:blipFill>
          <a:blip r:embed="rId1"/>
          <a:srcRect l="7527" r="7527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1B2E">
                  <a:alpha val="91000"/>
                </a:srgbClr>
              </a:gs>
              <a:gs pos="60000">
                <a:srgbClr val="1E1B2E">
                  <a:alpha val="80000"/>
                </a:srgbClr>
              </a:gs>
              <a:gs pos="100000">
                <a:srgbClr val="1E1B2E">
                  <a:alpha val="6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381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 spc="100" kern="0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Composer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62000" y="4826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gestionnaire de dépendances PHP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Composer — Définition et commandes principales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716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8235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79500" y="158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1317" y="164743"/>
                </a:moveTo>
                <a:cubicBezTo>
                  <a:pt x="317095" y="172938"/>
                  <a:pt x="327041" y="174744"/>
                  <a:pt x="334542" y="168563"/>
                </a:cubicBezTo>
                <a:cubicBezTo>
                  <a:pt x="342709" y="161756"/>
                  <a:pt x="344932" y="147935"/>
                  <a:pt x="339487" y="137726"/>
                </a:cubicBezTo>
                <a:lnTo>
                  <a:pt x="312817" y="87719"/>
                </a:lnTo>
                <a:cubicBezTo>
                  <a:pt x="311261" y="84802"/>
                  <a:pt x="309150" y="82371"/>
                  <a:pt x="306649" y="80635"/>
                </a:cubicBezTo>
                <a:lnTo>
                  <a:pt x="195247" y="3264"/>
                </a:lnTo>
                <a:cubicBezTo>
                  <a:pt x="184523" y="-4167"/>
                  <a:pt x="171466" y="-4167"/>
                  <a:pt x="160687" y="3264"/>
                </a:cubicBezTo>
                <a:lnTo>
                  <a:pt x="49340" y="80566"/>
                </a:lnTo>
                <a:cubicBezTo>
                  <a:pt x="46339" y="82649"/>
                  <a:pt x="43950" y="85705"/>
                  <a:pt x="42339" y="89456"/>
                </a:cubicBezTo>
                <a:lnTo>
                  <a:pt x="15391" y="151894"/>
                </a:lnTo>
                <a:cubicBezTo>
                  <a:pt x="8390" y="168146"/>
                  <a:pt x="13279" y="188357"/>
                  <a:pt x="26281" y="197108"/>
                </a:cubicBezTo>
                <a:lnTo>
                  <a:pt x="44617" y="209401"/>
                </a:lnTo>
                <a:lnTo>
                  <a:pt x="44617" y="246420"/>
                </a:lnTo>
                <a:cubicBezTo>
                  <a:pt x="44617" y="262394"/>
                  <a:pt x="51506" y="277187"/>
                  <a:pt x="62619" y="285105"/>
                </a:cubicBezTo>
                <a:lnTo>
                  <a:pt x="160409" y="354350"/>
                </a:lnTo>
                <a:cubicBezTo>
                  <a:pt x="171299" y="362059"/>
                  <a:pt x="184579" y="362059"/>
                  <a:pt x="195469" y="354350"/>
                </a:cubicBezTo>
                <a:lnTo>
                  <a:pt x="293259" y="285105"/>
                </a:lnTo>
                <a:cubicBezTo>
                  <a:pt x="304427" y="277187"/>
                  <a:pt x="311261" y="262463"/>
                  <a:pt x="311261" y="246420"/>
                </a:cubicBezTo>
                <a:lnTo>
                  <a:pt x="311261" y="164812"/>
                </a:lnTo>
                <a:close/>
                <a:moveTo>
                  <a:pt x="177967" y="157936"/>
                </a:moveTo>
                <a:lnTo>
                  <a:pt x="94567" y="100013"/>
                </a:lnTo>
                <a:lnTo>
                  <a:pt x="177967" y="42089"/>
                </a:lnTo>
                <a:lnTo>
                  <a:pt x="261366" y="100013"/>
                </a:lnTo>
                <a:lnTo>
                  <a:pt x="177967" y="157936"/>
                </a:lnTo>
                <a:close/>
                <a:moveTo>
                  <a:pt x="154908" y="192802"/>
                </a:moveTo>
                <a:lnTo>
                  <a:pt x="143073" y="224889"/>
                </a:lnTo>
                <a:lnTo>
                  <a:pt x="50951" y="163215"/>
                </a:lnTo>
                <a:lnTo>
                  <a:pt x="65064" y="130433"/>
                </a:lnTo>
                <a:lnTo>
                  <a:pt x="154908" y="192802"/>
                </a:ln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7" name="Text 5"/>
          <p:cNvSpPr/>
          <p:nvPr/>
        </p:nvSpPr>
        <p:spPr>
          <a:xfrm>
            <a:off x="1587500" y="1524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Qu'est-ce que Composer 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9500" y="2032000"/>
            <a:ext cx="14097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Outil de </a:t>
            </a:r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gestion de dépendances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PHP, standard de l'industrie depuis 2012. Il automatise l'installation, la mise à jour et l'autoloading des bibliothèques.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9464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Commandes principales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62000" y="34925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9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2000" y="3492500"/>
            <a:ext cx="4699000" cy="635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12" name="Text 10"/>
          <p:cNvSpPr/>
          <p:nvPr/>
        </p:nvSpPr>
        <p:spPr>
          <a:xfrm>
            <a:off x="990600" y="37084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9B6D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composer init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0600" y="4089400"/>
            <a:ext cx="4216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Initialise un fichier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composer.json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dans le projet avec un assistant interactif.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778500" y="34925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98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8500" y="3492500"/>
            <a:ext cx="4699000" cy="635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16" name="Text 14"/>
          <p:cNvSpPr/>
          <p:nvPr/>
        </p:nvSpPr>
        <p:spPr>
          <a:xfrm>
            <a:off x="6007100" y="37084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9B6D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composer install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07100" y="4089400"/>
            <a:ext cx="4216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Installe toutes les dépendances listées dans le fichier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composer.lock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795000" y="34925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98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795000" y="3492500"/>
            <a:ext cx="4699000" cy="635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20" name="Text 18"/>
          <p:cNvSpPr/>
          <p:nvPr/>
        </p:nvSpPr>
        <p:spPr>
          <a:xfrm>
            <a:off x="11023600" y="37084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9B6D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composer require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23600" y="4089400"/>
            <a:ext cx="42164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Ajoute une bibliothèque au projet et met à jour composer.json.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62000" y="5461000"/>
            <a:ext cx="14732000" cy="3048000"/>
          </a:xfrm>
          <a:prstGeom prst="roundRect">
            <a:avLst>
              <a:gd name="adj" fmla="val 6000"/>
            </a:avLst>
          </a:prstGeom>
          <a:solidFill>
            <a:srgbClr val="EDE9F2"/>
          </a:solidFill>
          <a:ln w="12700">
            <a:solidFill>
              <a:srgbClr val="D4CD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6000" y="5613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100" kern="0" dirty="0">
                <a:solidFill>
                  <a:srgbClr val="8B7D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EXEMPLE PRATIQUE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16000" y="5969000"/>
            <a:ext cx="14224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Ajouter un package de validation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composer require vlucas/valitron</a:t>
            </a:r>
            <a:endParaRPr lang="en-US" sz="1400" dirty="0"/>
          </a:p>
          <a:p>
            <a:pPr algn="l">
              <a:lnSpc>
                <a:spcPct val="160000"/>
              </a:lnSpc>
            </a:pP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 Dans votre code PHP — autoloading automatique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 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4CAF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'vendor/autoload.php'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5B4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Valitron\Validator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$v = new Validator($data);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2000" y="86995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100" kern="0" dirty="0">
                <a:solidFill>
                  <a:srgbClr val="8B7D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COMPOSER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859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Avantages de Composer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71755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98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6000" y="1625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3520" y="0"/>
                </a:moveTo>
                <a:cubicBezTo>
                  <a:pt x="223520" y="-14049"/>
                  <a:pt x="214440" y="-25400"/>
                  <a:pt x="203200" y="-25400"/>
                </a:cubicBezTo>
                <a:cubicBezTo>
                  <a:pt x="191961" y="-25400"/>
                  <a:pt x="182880" y="-14049"/>
                  <a:pt x="182880" y="0"/>
                </a:cubicBezTo>
                <a:lnTo>
                  <a:pt x="182880" y="50800"/>
                </a:lnTo>
                <a:lnTo>
                  <a:pt x="121920" y="50800"/>
                </a:lnTo>
                <a:cubicBezTo>
                  <a:pt x="88265" y="50800"/>
                  <a:pt x="60960" y="84931"/>
                  <a:pt x="60960" y="127000"/>
                </a:cubicBezTo>
                <a:lnTo>
                  <a:pt x="60960" y="304800"/>
                </a:lnTo>
                <a:cubicBezTo>
                  <a:pt x="60960" y="346869"/>
                  <a:pt x="88265" y="381000"/>
                  <a:pt x="121920" y="381000"/>
                </a:cubicBezTo>
                <a:lnTo>
                  <a:pt x="284480" y="381000"/>
                </a:lnTo>
                <a:cubicBezTo>
                  <a:pt x="318135" y="381000"/>
                  <a:pt x="345440" y="346869"/>
                  <a:pt x="345440" y="304800"/>
                </a:cubicBezTo>
                <a:lnTo>
                  <a:pt x="345440" y="127000"/>
                </a:lnTo>
                <a:cubicBezTo>
                  <a:pt x="345440" y="84931"/>
                  <a:pt x="318135" y="50800"/>
                  <a:pt x="284480" y="50800"/>
                </a:cubicBezTo>
                <a:lnTo>
                  <a:pt x="223520" y="50800"/>
                </a:lnTo>
                <a:lnTo>
                  <a:pt x="223520" y="0"/>
                </a:lnTo>
                <a:close/>
                <a:moveTo>
                  <a:pt x="101600" y="292100"/>
                </a:moveTo>
                <a:cubicBezTo>
                  <a:pt x="101600" y="281543"/>
                  <a:pt x="108394" y="273050"/>
                  <a:pt x="116840" y="273050"/>
                </a:cubicBezTo>
                <a:lnTo>
                  <a:pt x="137160" y="273050"/>
                </a:lnTo>
                <a:cubicBezTo>
                  <a:pt x="145606" y="273050"/>
                  <a:pt x="152400" y="281543"/>
                  <a:pt x="152400" y="292100"/>
                </a:cubicBezTo>
                <a:cubicBezTo>
                  <a:pt x="152400" y="302657"/>
                  <a:pt x="145606" y="311150"/>
                  <a:pt x="137160" y="311150"/>
                </a:cubicBezTo>
                <a:lnTo>
                  <a:pt x="116840" y="311150"/>
                </a:lnTo>
                <a:cubicBezTo>
                  <a:pt x="108394" y="311150"/>
                  <a:pt x="101600" y="302657"/>
                  <a:pt x="101600" y="292100"/>
                </a:cubicBezTo>
                <a:close/>
                <a:moveTo>
                  <a:pt x="177800" y="292100"/>
                </a:moveTo>
                <a:cubicBezTo>
                  <a:pt x="177800" y="281543"/>
                  <a:pt x="184595" y="273050"/>
                  <a:pt x="193040" y="273050"/>
                </a:cubicBezTo>
                <a:lnTo>
                  <a:pt x="213360" y="273050"/>
                </a:lnTo>
                <a:cubicBezTo>
                  <a:pt x="221806" y="273050"/>
                  <a:pt x="228600" y="281543"/>
                  <a:pt x="228600" y="292100"/>
                </a:cubicBezTo>
                <a:cubicBezTo>
                  <a:pt x="228600" y="302657"/>
                  <a:pt x="221806" y="311150"/>
                  <a:pt x="213360" y="311150"/>
                </a:cubicBezTo>
                <a:lnTo>
                  <a:pt x="193040" y="311150"/>
                </a:lnTo>
                <a:cubicBezTo>
                  <a:pt x="184595" y="311150"/>
                  <a:pt x="177800" y="302657"/>
                  <a:pt x="177800" y="292100"/>
                </a:cubicBezTo>
                <a:close/>
                <a:moveTo>
                  <a:pt x="254000" y="292100"/>
                </a:moveTo>
                <a:cubicBezTo>
                  <a:pt x="254000" y="281543"/>
                  <a:pt x="260795" y="273050"/>
                  <a:pt x="269240" y="273050"/>
                </a:cubicBezTo>
                <a:lnTo>
                  <a:pt x="289560" y="273050"/>
                </a:lnTo>
                <a:cubicBezTo>
                  <a:pt x="298006" y="273050"/>
                  <a:pt x="304800" y="281543"/>
                  <a:pt x="304800" y="292100"/>
                </a:cubicBezTo>
                <a:cubicBezTo>
                  <a:pt x="304800" y="302657"/>
                  <a:pt x="298006" y="311150"/>
                  <a:pt x="289560" y="311150"/>
                </a:cubicBezTo>
                <a:lnTo>
                  <a:pt x="269240" y="311150"/>
                </a:lnTo>
                <a:cubicBezTo>
                  <a:pt x="260795" y="311150"/>
                  <a:pt x="254000" y="302657"/>
                  <a:pt x="254000" y="292100"/>
                </a:cubicBezTo>
                <a:close/>
                <a:moveTo>
                  <a:pt x="142240" y="139700"/>
                </a:moveTo>
                <a:cubicBezTo>
                  <a:pt x="159062" y="139700"/>
                  <a:pt x="172720" y="156772"/>
                  <a:pt x="172720" y="177800"/>
                </a:cubicBezTo>
                <a:cubicBezTo>
                  <a:pt x="172720" y="198828"/>
                  <a:pt x="159062" y="215900"/>
                  <a:pt x="142240" y="215900"/>
                </a:cubicBezTo>
                <a:cubicBezTo>
                  <a:pt x="125418" y="215900"/>
                  <a:pt x="111760" y="198828"/>
                  <a:pt x="111760" y="177800"/>
                </a:cubicBezTo>
                <a:cubicBezTo>
                  <a:pt x="111760" y="156772"/>
                  <a:pt x="125418" y="139700"/>
                  <a:pt x="142240" y="139700"/>
                </a:cubicBezTo>
                <a:close/>
                <a:moveTo>
                  <a:pt x="233680" y="177800"/>
                </a:moveTo>
                <a:cubicBezTo>
                  <a:pt x="233680" y="156772"/>
                  <a:pt x="247338" y="139700"/>
                  <a:pt x="264160" y="139700"/>
                </a:cubicBezTo>
                <a:cubicBezTo>
                  <a:pt x="280982" y="139700"/>
                  <a:pt x="294640" y="156772"/>
                  <a:pt x="294640" y="177800"/>
                </a:cubicBezTo>
                <a:cubicBezTo>
                  <a:pt x="294640" y="198828"/>
                  <a:pt x="280982" y="215900"/>
                  <a:pt x="264160" y="215900"/>
                </a:cubicBezTo>
                <a:cubicBezTo>
                  <a:pt x="247338" y="215900"/>
                  <a:pt x="233680" y="198828"/>
                  <a:pt x="233680" y="177800"/>
                </a:cubicBezTo>
                <a:close/>
                <a:moveTo>
                  <a:pt x="40640" y="177800"/>
                </a:moveTo>
                <a:cubicBezTo>
                  <a:pt x="40640" y="163751"/>
                  <a:pt x="31560" y="152400"/>
                  <a:pt x="20320" y="152400"/>
                </a:cubicBezTo>
                <a:cubicBezTo>
                  <a:pt x="9080" y="152400"/>
                  <a:pt x="0" y="163751"/>
                  <a:pt x="0" y="177800"/>
                </a:cubicBezTo>
                <a:lnTo>
                  <a:pt x="0" y="254000"/>
                </a:lnTo>
                <a:cubicBezTo>
                  <a:pt x="0" y="268049"/>
                  <a:pt x="9081" y="279400"/>
                  <a:pt x="20320" y="279400"/>
                </a:cubicBezTo>
                <a:cubicBezTo>
                  <a:pt x="31560" y="279400"/>
                  <a:pt x="40640" y="268049"/>
                  <a:pt x="40640" y="254000"/>
                </a:cubicBezTo>
                <a:lnTo>
                  <a:pt x="40640" y="177800"/>
                </a:lnTo>
                <a:close/>
                <a:moveTo>
                  <a:pt x="386080" y="152400"/>
                </a:moveTo>
                <a:cubicBezTo>
                  <a:pt x="374841" y="152400"/>
                  <a:pt x="365760" y="163751"/>
                  <a:pt x="365760" y="177800"/>
                </a:cubicBezTo>
                <a:lnTo>
                  <a:pt x="365760" y="254000"/>
                </a:lnTo>
                <a:cubicBezTo>
                  <a:pt x="365760" y="268049"/>
                  <a:pt x="374841" y="279400"/>
                  <a:pt x="386080" y="279400"/>
                </a:cubicBezTo>
                <a:cubicBezTo>
                  <a:pt x="397320" y="279400"/>
                  <a:pt x="406400" y="268049"/>
                  <a:pt x="406400" y="254000"/>
                </a:cubicBezTo>
                <a:lnTo>
                  <a:pt x="406400" y="177800"/>
                </a:lnTo>
                <a:cubicBezTo>
                  <a:pt x="406400" y="163751"/>
                  <a:pt x="397320" y="152400"/>
                  <a:pt x="386080" y="152400"/>
                </a:cubicBez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7" name="Text 5"/>
          <p:cNvSpPr/>
          <p:nvPr/>
        </p:nvSpPr>
        <p:spPr>
          <a:xfrm>
            <a:off x="1587500" y="1625600"/>
            <a:ext cx="609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Automatisation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16000" y="2184400"/>
            <a:ext cx="666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Plus besoin de télécharger manuellement les bibliothèques. Une commande suffit pour installer, mettre à jour ou supprimer une dépendance.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18500" y="1397000"/>
            <a:ext cx="71755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98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72500" y="1625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3066" y="-20558"/>
                </a:moveTo>
                <a:cubicBezTo>
                  <a:pt x="210911" y="-27067"/>
                  <a:pt x="195580" y="-27067"/>
                  <a:pt x="183424" y="-20558"/>
                </a:cubicBezTo>
                <a:cubicBezTo>
                  <a:pt x="161290" y="-8731"/>
                  <a:pt x="147592" y="-5556"/>
                  <a:pt x="121648" y="-6032"/>
                </a:cubicBezTo>
                <a:cubicBezTo>
                  <a:pt x="107406" y="-6350"/>
                  <a:pt x="94161" y="397"/>
                  <a:pt x="87267" y="11351"/>
                </a:cubicBezTo>
                <a:cubicBezTo>
                  <a:pt x="74839" y="31274"/>
                  <a:pt x="64770" y="40084"/>
                  <a:pt x="42001" y="50959"/>
                </a:cubicBezTo>
                <a:cubicBezTo>
                  <a:pt x="29482" y="56912"/>
                  <a:pt x="21862" y="68580"/>
                  <a:pt x="22134" y="81042"/>
                </a:cubicBezTo>
                <a:cubicBezTo>
                  <a:pt x="22769" y="103743"/>
                  <a:pt x="19050" y="115729"/>
                  <a:pt x="5534" y="135096"/>
                </a:cubicBezTo>
                <a:cubicBezTo>
                  <a:pt x="-1905" y="145733"/>
                  <a:pt x="-1905" y="159147"/>
                  <a:pt x="5534" y="169783"/>
                </a:cubicBezTo>
                <a:cubicBezTo>
                  <a:pt x="19050" y="189151"/>
                  <a:pt x="22679" y="201136"/>
                  <a:pt x="22134" y="223838"/>
                </a:cubicBezTo>
                <a:cubicBezTo>
                  <a:pt x="21771" y="236299"/>
                  <a:pt x="29482" y="247888"/>
                  <a:pt x="42001" y="253921"/>
                </a:cubicBezTo>
                <a:cubicBezTo>
                  <a:pt x="62049" y="263525"/>
                  <a:pt x="72209" y="271463"/>
                  <a:pt x="82913" y="286861"/>
                </a:cubicBezTo>
                <a:lnTo>
                  <a:pt x="38735" y="363934"/>
                </a:lnTo>
                <a:cubicBezTo>
                  <a:pt x="33383" y="373380"/>
                  <a:pt x="37737" y="384810"/>
                  <a:pt x="48441" y="389493"/>
                </a:cubicBezTo>
                <a:lnTo>
                  <a:pt x="126456" y="423624"/>
                </a:lnTo>
                <a:cubicBezTo>
                  <a:pt x="136888" y="428149"/>
                  <a:pt x="149588" y="424736"/>
                  <a:pt x="155212" y="415846"/>
                </a:cubicBezTo>
                <a:lnTo>
                  <a:pt x="203109" y="340360"/>
                </a:lnTo>
                <a:lnTo>
                  <a:pt x="251006" y="415846"/>
                </a:lnTo>
                <a:cubicBezTo>
                  <a:pt x="256631" y="424736"/>
                  <a:pt x="269331" y="428228"/>
                  <a:pt x="279763" y="423624"/>
                </a:cubicBezTo>
                <a:lnTo>
                  <a:pt x="357777" y="389493"/>
                </a:lnTo>
                <a:cubicBezTo>
                  <a:pt x="368572" y="384810"/>
                  <a:pt x="372926" y="373380"/>
                  <a:pt x="367484" y="363934"/>
                </a:cubicBezTo>
                <a:lnTo>
                  <a:pt x="323396" y="286782"/>
                </a:lnTo>
                <a:cubicBezTo>
                  <a:pt x="334010" y="271383"/>
                  <a:pt x="344261" y="263446"/>
                  <a:pt x="364309" y="253841"/>
                </a:cubicBezTo>
                <a:cubicBezTo>
                  <a:pt x="376827" y="247888"/>
                  <a:pt x="384447" y="236220"/>
                  <a:pt x="384175" y="223758"/>
                </a:cubicBezTo>
                <a:cubicBezTo>
                  <a:pt x="383540" y="201057"/>
                  <a:pt x="387259" y="189071"/>
                  <a:pt x="400776" y="169704"/>
                </a:cubicBezTo>
                <a:cubicBezTo>
                  <a:pt x="408214" y="159068"/>
                  <a:pt x="408214" y="145653"/>
                  <a:pt x="400776" y="135017"/>
                </a:cubicBezTo>
                <a:cubicBezTo>
                  <a:pt x="387259" y="115649"/>
                  <a:pt x="383631" y="103664"/>
                  <a:pt x="384175" y="80963"/>
                </a:cubicBezTo>
                <a:cubicBezTo>
                  <a:pt x="384538" y="68501"/>
                  <a:pt x="376827" y="56912"/>
                  <a:pt x="364309" y="50879"/>
                </a:cubicBezTo>
                <a:cubicBezTo>
                  <a:pt x="341539" y="40005"/>
                  <a:pt x="331470" y="31194"/>
                  <a:pt x="319042" y="11271"/>
                </a:cubicBezTo>
                <a:cubicBezTo>
                  <a:pt x="312239" y="318"/>
                  <a:pt x="298904" y="-6350"/>
                  <a:pt x="284661" y="-6112"/>
                </a:cubicBezTo>
                <a:cubicBezTo>
                  <a:pt x="258717" y="-5556"/>
                  <a:pt x="245019" y="-8811"/>
                  <a:pt x="222885" y="-20637"/>
                </a:cubicBezTo>
                <a:close/>
                <a:moveTo>
                  <a:pt x="203200" y="76200"/>
                </a:moveTo>
                <a:cubicBezTo>
                  <a:pt x="251264" y="76200"/>
                  <a:pt x="290286" y="110344"/>
                  <a:pt x="290286" y="152400"/>
                </a:cubicBezTo>
                <a:cubicBezTo>
                  <a:pt x="290286" y="194456"/>
                  <a:pt x="251264" y="228600"/>
                  <a:pt x="203200" y="228600"/>
                </a:cubicBezTo>
                <a:cubicBezTo>
                  <a:pt x="155136" y="228600"/>
                  <a:pt x="116114" y="194456"/>
                  <a:pt x="116114" y="152400"/>
                </a:cubicBezTo>
                <a:cubicBezTo>
                  <a:pt x="116114" y="110344"/>
                  <a:pt x="155136" y="76200"/>
                  <a:pt x="203200" y="76200"/>
                </a:cubicBez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0" y="1625600"/>
            <a:ext cx="609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professionnel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72500" y="2184400"/>
            <a:ext cx="666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Utilisé par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des projets PHP modernes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Laravel, Symfony, Drupal, WordPress. Compétence indispensable sur le marché du travail.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873500"/>
            <a:ext cx="71755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98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16000" y="4102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2571" y="82550"/>
                </a:moveTo>
                <a:cubicBezTo>
                  <a:pt x="84587" y="82550"/>
                  <a:pt x="94343" y="74014"/>
                  <a:pt x="94343" y="63500"/>
                </a:cubicBezTo>
                <a:cubicBezTo>
                  <a:pt x="94343" y="52986"/>
                  <a:pt x="84587" y="44450"/>
                  <a:pt x="72571" y="44450"/>
                </a:cubicBezTo>
                <a:cubicBezTo>
                  <a:pt x="60555" y="44450"/>
                  <a:pt x="50800" y="52986"/>
                  <a:pt x="50800" y="63500"/>
                </a:cubicBezTo>
                <a:cubicBezTo>
                  <a:pt x="50800" y="74014"/>
                  <a:pt x="60555" y="82550"/>
                  <a:pt x="72571" y="82550"/>
                </a:cubicBezTo>
                <a:close/>
                <a:moveTo>
                  <a:pt x="145143" y="63500"/>
                </a:moveTo>
                <a:cubicBezTo>
                  <a:pt x="145143" y="89535"/>
                  <a:pt x="127272" y="111919"/>
                  <a:pt x="101600" y="121682"/>
                </a:cubicBezTo>
                <a:lnTo>
                  <a:pt x="101600" y="177800"/>
                </a:lnTo>
                <a:lnTo>
                  <a:pt x="261257" y="177800"/>
                </a:lnTo>
                <a:cubicBezTo>
                  <a:pt x="285296" y="177800"/>
                  <a:pt x="304800" y="160734"/>
                  <a:pt x="304800" y="139700"/>
                </a:cubicBezTo>
                <a:lnTo>
                  <a:pt x="304800" y="121682"/>
                </a:lnTo>
                <a:cubicBezTo>
                  <a:pt x="279128" y="111919"/>
                  <a:pt x="261257" y="89535"/>
                  <a:pt x="261257" y="63500"/>
                </a:cubicBezTo>
                <a:cubicBezTo>
                  <a:pt x="261257" y="28416"/>
                  <a:pt x="293733" y="0"/>
                  <a:pt x="333829" y="0"/>
                </a:cubicBezTo>
                <a:cubicBezTo>
                  <a:pt x="373924" y="0"/>
                  <a:pt x="406400" y="28416"/>
                  <a:pt x="406400" y="63500"/>
                </a:cubicBezTo>
                <a:cubicBezTo>
                  <a:pt x="406400" y="89535"/>
                  <a:pt x="388529" y="111919"/>
                  <a:pt x="362857" y="121682"/>
                </a:cubicBezTo>
                <a:lnTo>
                  <a:pt x="362857" y="139700"/>
                </a:lnTo>
                <a:cubicBezTo>
                  <a:pt x="362857" y="188833"/>
                  <a:pt x="317409" y="228600"/>
                  <a:pt x="261257" y="228600"/>
                </a:cubicBezTo>
                <a:lnTo>
                  <a:pt x="101600" y="228600"/>
                </a:lnTo>
                <a:lnTo>
                  <a:pt x="101600" y="284718"/>
                </a:lnTo>
                <a:cubicBezTo>
                  <a:pt x="127272" y="294481"/>
                  <a:pt x="145143" y="316865"/>
                  <a:pt x="145143" y="342900"/>
                </a:cubicBezTo>
                <a:cubicBezTo>
                  <a:pt x="145143" y="377984"/>
                  <a:pt x="112667" y="406400"/>
                  <a:pt x="72571" y="406400"/>
                </a:cubicBezTo>
                <a:cubicBezTo>
                  <a:pt x="32476" y="406400"/>
                  <a:pt x="0" y="377984"/>
                  <a:pt x="0" y="342900"/>
                </a:cubicBezTo>
                <a:cubicBezTo>
                  <a:pt x="0" y="316865"/>
                  <a:pt x="17871" y="294481"/>
                  <a:pt x="43543" y="284718"/>
                </a:cubicBezTo>
                <a:lnTo>
                  <a:pt x="43543" y="121761"/>
                </a:lnTo>
                <a:cubicBezTo>
                  <a:pt x="17871" y="111919"/>
                  <a:pt x="0" y="89535"/>
                  <a:pt x="0" y="63500"/>
                </a:cubicBezTo>
                <a:cubicBezTo>
                  <a:pt x="0" y="28416"/>
                  <a:pt x="32476" y="0"/>
                  <a:pt x="72571" y="0"/>
                </a:cubicBezTo>
                <a:cubicBezTo>
                  <a:pt x="112667" y="0"/>
                  <a:pt x="145143" y="28416"/>
                  <a:pt x="145143" y="63500"/>
                </a:cubicBezTo>
                <a:close/>
                <a:moveTo>
                  <a:pt x="355600" y="63500"/>
                </a:moveTo>
                <a:cubicBezTo>
                  <a:pt x="355600" y="52986"/>
                  <a:pt x="345845" y="44450"/>
                  <a:pt x="333829" y="44450"/>
                </a:cubicBezTo>
                <a:cubicBezTo>
                  <a:pt x="321813" y="44450"/>
                  <a:pt x="312057" y="52986"/>
                  <a:pt x="312057" y="63500"/>
                </a:cubicBezTo>
                <a:cubicBezTo>
                  <a:pt x="312057" y="74014"/>
                  <a:pt x="321813" y="82550"/>
                  <a:pt x="333829" y="82550"/>
                </a:cubicBezTo>
                <a:cubicBezTo>
                  <a:pt x="345845" y="82550"/>
                  <a:pt x="355600" y="74014"/>
                  <a:pt x="355600" y="63500"/>
                </a:cubicBezTo>
                <a:close/>
                <a:moveTo>
                  <a:pt x="72571" y="361950"/>
                </a:moveTo>
                <a:cubicBezTo>
                  <a:pt x="84587" y="361950"/>
                  <a:pt x="94343" y="353414"/>
                  <a:pt x="94343" y="342900"/>
                </a:cubicBezTo>
                <a:cubicBezTo>
                  <a:pt x="94343" y="332386"/>
                  <a:pt x="84587" y="323850"/>
                  <a:pt x="72571" y="323850"/>
                </a:cubicBezTo>
                <a:cubicBezTo>
                  <a:pt x="60555" y="323850"/>
                  <a:pt x="50800" y="332386"/>
                  <a:pt x="50800" y="342900"/>
                </a:cubicBezTo>
                <a:cubicBezTo>
                  <a:pt x="50800" y="353414"/>
                  <a:pt x="60555" y="361950"/>
                  <a:pt x="72571" y="361950"/>
                </a:cubicBez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15" name="Text 13"/>
          <p:cNvSpPr/>
          <p:nvPr/>
        </p:nvSpPr>
        <p:spPr>
          <a:xfrm>
            <a:off x="1587500" y="4102100"/>
            <a:ext cx="609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Gestion des versions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16000" y="4660900"/>
            <a:ext cx="666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Contrôle précis via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versioning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~1.2 (compatible), ^1.2 (majeur fixe), &gt;=1.2 (minimum). Évite les conflits de versions.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18500" y="3873500"/>
            <a:ext cx="71755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98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72500" y="4102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2400" y="50800"/>
                </a:moveTo>
                <a:cubicBezTo>
                  <a:pt x="152400" y="36751"/>
                  <a:pt x="163751" y="25400"/>
                  <a:pt x="177800" y="25400"/>
                </a:cubicBezTo>
                <a:lnTo>
                  <a:pt x="228600" y="25400"/>
                </a:lnTo>
                <a:cubicBezTo>
                  <a:pt x="242649" y="25400"/>
                  <a:pt x="254000" y="36751"/>
                  <a:pt x="254000" y="50800"/>
                </a:cubicBezTo>
                <a:lnTo>
                  <a:pt x="254000" y="101600"/>
                </a:lnTo>
                <a:cubicBezTo>
                  <a:pt x="254000" y="115649"/>
                  <a:pt x="242649" y="127000"/>
                  <a:pt x="228600" y="127000"/>
                </a:cubicBezTo>
                <a:lnTo>
                  <a:pt x="222250" y="127000"/>
                </a:lnTo>
                <a:lnTo>
                  <a:pt x="222250" y="177800"/>
                </a:lnTo>
                <a:lnTo>
                  <a:pt x="317500" y="177800"/>
                </a:lnTo>
                <a:cubicBezTo>
                  <a:pt x="349091" y="177800"/>
                  <a:pt x="374650" y="203359"/>
                  <a:pt x="374650" y="234950"/>
                </a:cubicBezTo>
                <a:lnTo>
                  <a:pt x="374650" y="279400"/>
                </a:lnTo>
                <a:lnTo>
                  <a:pt x="381000" y="279400"/>
                </a:lnTo>
                <a:cubicBezTo>
                  <a:pt x="395049" y="279400"/>
                  <a:pt x="406400" y="290751"/>
                  <a:pt x="406400" y="304800"/>
                </a:cubicBezTo>
                <a:lnTo>
                  <a:pt x="406400" y="355600"/>
                </a:lnTo>
                <a:cubicBezTo>
                  <a:pt x="406400" y="369649"/>
                  <a:pt x="395049" y="381000"/>
                  <a:pt x="381000" y="381000"/>
                </a:cubicBezTo>
                <a:lnTo>
                  <a:pt x="330200" y="381000"/>
                </a:lnTo>
                <a:cubicBezTo>
                  <a:pt x="316151" y="381000"/>
                  <a:pt x="304800" y="369649"/>
                  <a:pt x="304800" y="355600"/>
                </a:cubicBezTo>
                <a:lnTo>
                  <a:pt x="304800" y="304800"/>
                </a:lnTo>
                <a:cubicBezTo>
                  <a:pt x="304800" y="290751"/>
                  <a:pt x="316151" y="279400"/>
                  <a:pt x="330200" y="279400"/>
                </a:cubicBezTo>
                <a:lnTo>
                  <a:pt x="336550" y="279400"/>
                </a:lnTo>
                <a:lnTo>
                  <a:pt x="336550" y="234950"/>
                </a:lnTo>
                <a:cubicBezTo>
                  <a:pt x="336550" y="224393"/>
                  <a:pt x="328057" y="215900"/>
                  <a:pt x="317500" y="215900"/>
                </a:cubicBezTo>
                <a:lnTo>
                  <a:pt x="222250" y="215900"/>
                </a:lnTo>
                <a:lnTo>
                  <a:pt x="222250" y="279400"/>
                </a:lnTo>
                <a:lnTo>
                  <a:pt x="228600" y="279400"/>
                </a:lnTo>
                <a:cubicBezTo>
                  <a:pt x="242649" y="279400"/>
                  <a:pt x="254000" y="290751"/>
                  <a:pt x="254000" y="304800"/>
                </a:cubicBezTo>
                <a:lnTo>
                  <a:pt x="254000" y="355600"/>
                </a:lnTo>
                <a:cubicBezTo>
                  <a:pt x="254000" y="369649"/>
                  <a:pt x="242649" y="381000"/>
                  <a:pt x="228600" y="381000"/>
                </a:cubicBezTo>
                <a:lnTo>
                  <a:pt x="177800" y="381000"/>
                </a:lnTo>
                <a:cubicBezTo>
                  <a:pt x="163751" y="381000"/>
                  <a:pt x="152400" y="369649"/>
                  <a:pt x="152400" y="355600"/>
                </a:cubicBezTo>
                <a:lnTo>
                  <a:pt x="152400" y="304800"/>
                </a:lnTo>
                <a:cubicBezTo>
                  <a:pt x="152400" y="290751"/>
                  <a:pt x="163751" y="279400"/>
                  <a:pt x="177800" y="279400"/>
                </a:cubicBezTo>
                <a:lnTo>
                  <a:pt x="184150" y="279400"/>
                </a:lnTo>
                <a:lnTo>
                  <a:pt x="184150" y="215900"/>
                </a:lnTo>
                <a:lnTo>
                  <a:pt x="88900" y="215900"/>
                </a:lnTo>
                <a:cubicBezTo>
                  <a:pt x="78343" y="215900"/>
                  <a:pt x="69850" y="224393"/>
                  <a:pt x="69850" y="234950"/>
                </a:cubicBezTo>
                <a:lnTo>
                  <a:pt x="69850" y="279400"/>
                </a:lnTo>
                <a:lnTo>
                  <a:pt x="76200" y="279400"/>
                </a:lnTo>
                <a:cubicBezTo>
                  <a:pt x="90249" y="279400"/>
                  <a:pt x="101600" y="290751"/>
                  <a:pt x="101600" y="304800"/>
                </a:cubicBezTo>
                <a:lnTo>
                  <a:pt x="101600" y="355600"/>
                </a:lnTo>
                <a:cubicBezTo>
                  <a:pt x="101600" y="369649"/>
                  <a:pt x="90249" y="381000"/>
                  <a:pt x="76200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04800"/>
                </a:lnTo>
                <a:cubicBezTo>
                  <a:pt x="0" y="290751"/>
                  <a:pt x="11351" y="279400"/>
                  <a:pt x="25400" y="279400"/>
                </a:cubicBezTo>
                <a:lnTo>
                  <a:pt x="31750" y="279400"/>
                </a:lnTo>
                <a:lnTo>
                  <a:pt x="31750" y="234950"/>
                </a:lnTo>
                <a:cubicBezTo>
                  <a:pt x="31750" y="203359"/>
                  <a:pt x="57309" y="177800"/>
                  <a:pt x="88900" y="177800"/>
                </a:cubicBezTo>
                <a:lnTo>
                  <a:pt x="184150" y="177800"/>
                </a:lnTo>
                <a:lnTo>
                  <a:pt x="184150" y="127000"/>
                </a:lnTo>
                <a:lnTo>
                  <a:pt x="177800" y="127000"/>
                </a:lnTo>
                <a:cubicBezTo>
                  <a:pt x="163751" y="127000"/>
                  <a:pt x="152400" y="115649"/>
                  <a:pt x="152400" y="101600"/>
                </a:cubicBezTo>
                <a:lnTo>
                  <a:pt x="152400" y="50800"/>
                </a:ln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4102100"/>
            <a:ext cx="609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Autoloading PSR-4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72500" y="4660900"/>
            <a:ext cx="666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Chargement automatique des classes basé sur les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namespaces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Fini les require/include manuels. Le fichier vendor/autoload.php s'en charge.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6350000"/>
            <a:ext cx="14732000" cy="1905000"/>
          </a:xfrm>
          <a:prstGeom prst="roundRect">
            <a:avLst>
              <a:gd name="adj" fmla="val 6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143000" y="673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9321" y="222250"/>
                </a:moveTo>
                <a:lnTo>
                  <a:pt x="127794" y="222250"/>
                </a:lnTo>
                <a:cubicBezTo>
                  <a:pt x="130096" y="273447"/>
                  <a:pt x="141446" y="320596"/>
                  <a:pt x="157559" y="355124"/>
                </a:cubicBezTo>
                <a:cubicBezTo>
                  <a:pt x="166608" y="374571"/>
                  <a:pt x="176371" y="388303"/>
                  <a:pt x="185420" y="396716"/>
                </a:cubicBezTo>
                <a:cubicBezTo>
                  <a:pt x="194310" y="405051"/>
                  <a:pt x="200422" y="406400"/>
                  <a:pt x="203597" y="406400"/>
                </a:cubicBezTo>
                <a:cubicBezTo>
                  <a:pt x="206772" y="406400"/>
                  <a:pt x="212884" y="405051"/>
                  <a:pt x="221774" y="396716"/>
                </a:cubicBezTo>
                <a:cubicBezTo>
                  <a:pt x="230822" y="388302"/>
                  <a:pt x="240586" y="374491"/>
                  <a:pt x="249634" y="355124"/>
                </a:cubicBezTo>
                <a:cubicBezTo>
                  <a:pt x="265747" y="320596"/>
                  <a:pt x="277098" y="273447"/>
                  <a:pt x="279400" y="222250"/>
                </a:cubicBezTo>
                <a:close/>
                <a:moveTo>
                  <a:pt x="127714" y="184150"/>
                </a:moveTo>
                <a:lnTo>
                  <a:pt x="279241" y="184150"/>
                </a:lnTo>
                <a:cubicBezTo>
                  <a:pt x="277019" y="132953"/>
                  <a:pt x="265668" y="85804"/>
                  <a:pt x="249555" y="51276"/>
                </a:cubicBezTo>
                <a:cubicBezTo>
                  <a:pt x="240506" y="31909"/>
                  <a:pt x="230743" y="18098"/>
                  <a:pt x="221694" y="9684"/>
                </a:cubicBezTo>
                <a:cubicBezTo>
                  <a:pt x="212804" y="1349"/>
                  <a:pt x="206692" y="0"/>
                  <a:pt x="203518" y="0"/>
                </a:cubicBezTo>
                <a:cubicBezTo>
                  <a:pt x="200342" y="0"/>
                  <a:pt x="194231" y="1349"/>
                  <a:pt x="185341" y="9684"/>
                </a:cubicBezTo>
                <a:cubicBezTo>
                  <a:pt x="176292" y="18098"/>
                  <a:pt x="166529" y="31909"/>
                  <a:pt x="157480" y="51276"/>
                </a:cubicBezTo>
                <a:cubicBezTo>
                  <a:pt x="141367" y="85804"/>
                  <a:pt x="130016" y="132953"/>
                  <a:pt x="127714" y="184150"/>
                </a:cubicBezTo>
                <a:close/>
                <a:moveTo>
                  <a:pt x="89614" y="184150"/>
                </a:moveTo>
                <a:cubicBezTo>
                  <a:pt x="92393" y="116205"/>
                  <a:pt x="109934" y="53102"/>
                  <a:pt x="135573" y="11668"/>
                </a:cubicBezTo>
                <a:cubicBezTo>
                  <a:pt x="62468" y="37544"/>
                  <a:pt x="8652" y="104140"/>
                  <a:pt x="1191" y="184150"/>
                </a:cubicBezTo>
                <a:lnTo>
                  <a:pt x="89614" y="184150"/>
                </a:lnTo>
                <a:close/>
                <a:moveTo>
                  <a:pt x="1191" y="222250"/>
                </a:moveTo>
                <a:cubicBezTo>
                  <a:pt x="8652" y="302260"/>
                  <a:pt x="62468" y="368856"/>
                  <a:pt x="135573" y="394732"/>
                </a:cubicBezTo>
                <a:cubicBezTo>
                  <a:pt x="109934" y="353298"/>
                  <a:pt x="92393" y="290195"/>
                  <a:pt x="89614" y="222250"/>
                </a:cubicBezTo>
                <a:lnTo>
                  <a:pt x="1191" y="222250"/>
                </a:lnTo>
                <a:close/>
                <a:moveTo>
                  <a:pt x="317421" y="222250"/>
                </a:moveTo>
                <a:cubicBezTo>
                  <a:pt x="314643" y="290195"/>
                  <a:pt x="297101" y="353298"/>
                  <a:pt x="271463" y="394732"/>
                </a:cubicBezTo>
                <a:cubicBezTo>
                  <a:pt x="344567" y="368776"/>
                  <a:pt x="398383" y="302260"/>
                  <a:pt x="405844" y="222250"/>
                </a:cubicBezTo>
                <a:lnTo>
                  <a:pt x="317421" y="222250"/>
                </a:lnTo>
                <a:close/>
                <a:moveTo>
                  <a:pt x="405844" y="184150"/>
                </a:moveTo>
                <a:cubicBezTo>
                  <a:pt x="398383" y="104140"/>
                  <a:pt x="344567" y="37544"/>
                  <a:pt x="271463" y="11668"/>
                </a:cubicBezTo>
                <a:cubicBezTo>
                  <a:pt x="297101" y="53102"/>
                  <a:pt x="314643" y="116205"/>
                  <a:pt x="317421" y="184150"/>
                </a:cubicBezTo>
                <a:lnTo>
                  <a:pt x="405844" y="184150"/>
                </a:ln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23" name="Text 21"/>
          <p:cNvSpPr/>
          <p:nvPr/>
        </p:nvSpPr>
        <p:spPr>
          <a:xfrm>
            <a:off x="1714500" y="67310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Écosystème mature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43000" y="7302500"/>
            <a:ext cx="139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Accès à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 milliers de packages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via Packagist.org — solutions éprouvées pour la validation, le routing, l'ORM, les templates, les tests, et bien plus.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86995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100" kern="0" dirty="0">
                <a:solidFill>
                  <a:srgbClr val="8B7D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COMPOSER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859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4erbgbvbrrpo/mnt/agents/output/php-professionnalisation/images/5_Dark_Abstract_Background_Modern_Technology.png">    </p:cNvPr>
          <p:cNvPicPr>
            <a:picLocks noChangeAspect="1"/>
          </p:cNvPicPr>
          <p:nvPr/>
        </p:nvPicPr>
        <p:blipFill>
          <a:blip r:embed="rId1"/>
          <a:srcRect l="2137" r="2137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1B2E">
                  <a:alpha val="91000"/>
                </a:srgbClr>
              </a:gs>
              <a:gs pos="60000">
                <a:srgbClr val="1E1B2E">
                  <a:alpha val="80000"/>
                </a:srgbClr>
              </a:gs>
              <a:gs pos="100000">
                <a:srgbClr val="1E1B2E">
                  <a:alpha val="6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381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 spc="100" kern="0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Packagist.org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62000" y="4826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référentiel central des packages PHP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Packagist — L'écosystème PHP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716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5B4B8A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4986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Packagist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est le référentiel officiel et principal de packages PHP, maintenu par l'équipe Composer. Il centralise les bibliothèques open-source du monde entier. La commande 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composer require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recherche et télécharge automatiquement depuis Packagist.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794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Exemples de packages populaires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62000" y="3365500"/>
            <a:ext cx="342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98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90600" y="355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0395" y="68937"/>
                </a:moveTo>
                <a:cubicBezTo>
                  <a:pt x="300335" y="68818"/>
                  <a:pt x="300276" y="68640"/>
                  <a:pt x="300216" y="68520"/>
                </a:cubicBezTo>
                <a:cubicBezTo>
                  <a:pt x="300157" y="68282"/>
                  <a:pt x="300038" y="68044"/>
                  <a:pt x="299918" y="67806"/>
                </a:cubicBezTo>
                <a:cubicBezTo>
                  <a:pt x="299799" y="67687"/>
                  <a:pt x="299740" y="67508"/>
                  <a:pt x="299621" y="67389"/>
                </a:cubicBezTo>
                <a:cubicBezTo>
                  <a:pt x="299502" y="67211"/>
                  <a:pt x="299323" y="67032"/>
                  <a:pt x="299204" y="66854"/>
                </a:cubicBezTo>
                <a:cubicBezTo>
                  <a:pt x="299085" y="66735"/>
                  <a:pt x="298906" y="66615"/>
                  <a:pt x="298728" y="66496"/>
                </a:cubicBezTo>
                <a:cubicBezTo>
                  <a:pt x="298549" y="66377"/>
                  <a:pt x="298371" y="66199"/>
                  <a:pt x="298192" y="66080"/>
                </a:cubicBezTo>
                <a:lnTo>
                  <a:pt x="240863" y="33040"/>
                </a:lnTo>
                <a:cubicBezTo>
                  <a:pt x="240149" y="32623"/>
                  <a:pt x="239316" y="32385"/>
                  <a:pt x="238482" y="32385"/>
                </a:cubicBezTo>
                <a:cubicBezTo>
                  <a:pt x="237649" y="32385"/>
                  <a:pt x="236815" y="32623"/>
                  <a:pt x="236101" y="33040"/>
                </a:cubicBezTo>
                <a:lnTo>
                  <a:pt x="178772" y="66080"/>
                </a:lnTo>
                <a:cubicBezTo>
                  <a:pt x="178594" y="66199"/>
                  <a:pt x="178415" y="66318"/>
                  <a:pt x="178237" y="66496"/>
                </a:cubicBezTo>
                <a:cubicBezTo>
                  <a:pt x="178058" y="66615"/>
                  <a:pt x="177939" y="66735"/>
                  <a:pt x="177760" y="66854"/>
                </a:cubicBezTo>
                <a:cubicBezTo>
                  <a:pt x="177582" y="67032"/>
                  <a:pt x="177463" y="67211"/>
                  <a:pt x="177344" y="67389"/>
                </a:cubicBezTo>
                <a:cubicBezTo>
                  <a:pt x="177225" y="67508"/>
                  <a:pt x="177105" y="67628"/>
                  <a:pt x="177046" y="67806"/>
                </a:cubicBezTo>
                <a:cubicBezTo>
                  <a:pt x="176927" y="68044"/>
                  <a:pt x="176808" y="68282"/>
                  <a:pt x="176748" y="68520"/>
                </a:cubicBezTo>
                <a:cubicBezTo>
                  <a:pt x="176689" y="68640"/>
                  <a:pt x="176629" y="68759"/>
                  <a:pt x="176570" y="68937"/>
                </a:cubicBezTo>
                <a:cubicBezTo>
                  <a:pt x="176451" y="69354"/>
                  <a:pt x="176391" y="69771"/>
                  <a:pt x="176391" y="70187"/>
                </a:cubicBezTo>
                <a:lnTo>
                  <a:pt x="176391" y="132814"/>
                </a:lnTo>
                <a:lnTo>
                  <a:pt x="128647" y="160318"/>
                </a:lnTo>
                <a:lnTo>
                  <a:pt x="128647" y="37743"/>
                </a:lnTo>
                <a:cubicBezTo>
                  <a:pt x="128647" y="37326"/>
                  <a:pt x="128588" y="36909"/>
                  <a:pt x="128468" y="36493"/>
                </a:cubicBezTo>
                <a:cubicBezTo>
                  <a:pt x="128409" y="36374"/>
                  <a:pt x="128349" y="36255"/>
                  <a:pt x="128290" y="36076"/>
                </a:cubicBezTo>
                <a:cubicBezTo>
                  <a:pt x="128230" y="35838"/>
                  <a:pt x="128111" y="35600"/>
                  <a:pt x="127992" y="35362"/>
                </a:cubicBezTo>
                <a:cubicBezTo>
                  <a:pt x="127933" y="35183"/>
                  <a:pt x="127754" y="35064"/>
                  <a:pt x="127695" y="34945"/>
                </a:cubicBezTo>
                <a:cubicBezTo>
                  <a:pt x="127575" y="34766"/>
                  <a:pt x="127397" y="34588"/>
                  <a:pt x="127278" y="34409"/>
                </a:cubicBezTo>
                <a:cubicBezTo>
                  <a:pt x="127159" y="34290"/>
                  <a:pt x="126980" y="34171"/>
                  <a:pt x="126802" y="34052"/>
                </a:cubicBezTo>
                <a:cubicBezTo>
                  <a:pt x="126623" y="33933"/>
                  <a:pt x="126444" y="33754"/>
                  <a:pt x="126266" y="33635"/>
                </a:cubicBezTo>
                <a:lnTo>
                  <a:pt x="68937" y="655"/>
                </a:lnTo>
                <a:cubicBezTo>
                  <a:pt x="68223" y="238"/>
                  <a:pt x="67389" y="0"/>
                  <a:pt x="66556" y="0"/>
                </a:cubicBezTo>
                <a:cubicBezTo>
                  <a:pt x="65723" y="0"/>
                  <a:pt x="64889" y="238"/>
                  <a:pt x="64175" y="655"/>
                </a:cubicBezTo>
                <a:lnTo>
                  <a:pt x="6846" y="33635"/>
                </a:lnTo>
                <a:cubicBezTo>
                  <a:pt x="6668" y="33754"/>
                  <a:pt x="6489" y="33873"/>
                  <a:pt x="6310" y="34052"/>
                </a:cubicBezTo>
                <a:cubicBezTo>
                  <a:pt x="6132" y="34171"/>
                  <a:pt x="6013" y="34290"/>
                  <a:pt x="5834" y="34409"/>
                </a:cubicBezTo>
                <a:cubicBezTo>
                  <a:pt x="5655" y="34588"/>
                  <a:pt x="5536" y="34766"/>
                  <a:pt x="5417" y="34945"/>
                </a:cubicBezTo>
                <a:cubicBezTo>
                  <a:pt x="5298" y="35123"/>
                  <a:pt x="5179" y="35243"/>
                  <a:pt x="5060" y="35362"/>
                </a:cubicBezTo>
                <a:cubicBezTo>
                  <a:pt x="4941" y="35600"/>
                  <a:pt x="4822" y="35838"/>
                  <a:pt x="4763" y="36076"/>
                </a:cubicBezTo>
                <a:cubicBezTo>
                  <a:pt x="4703" y="36195"/>
                  <a:pt x="4643" y="36314"/>
                  <a:pt x="4584" y="36493"/>
                </a:cubicBezTo>
                <a:cubicBezTo>
                  <a:pt x="4465" y="36909"/>
                  <a:pt x="4405" y="37326"/>
                  <a:pt x="4405" y="37743"/>
                </a:cubicBezTo>
                <a:lnTo>
                  <a:pt x="4405" y="234017"/>
                </a:lnTo>
                <a:cubicBezTo>
                  <a:pt x="4405" y="234851"/>
                  <a:pt x="4643" y="235684"/>
                  <a:pt x="5060" y="236399"/>
                </a:cubicBezTo>
                <a:cubicBezTo>
                  <a:pt x="5477" y="237113"/>
                  <a:pt x="6072" y="237708"/>
                  <a:pt x="6787" y="238125"/>
                </a:cubicBezTo>
                <a:lnTo>
                  <a:pt x="121444" y="304145"/>
                </a:lnTo>
                <a:cubicBezTo>
                  <a:pt x="121682" y="304264"/>
                  <a:pt x="121980" y="304383"/>
                  <a:pt x="122218" y="304443"/>
                </a:cubicBezTo>
                <a:cubicBezTo>
                  <a:pt x="122337" y="304502"/>
                  <a:pt x="122456" y="304562"/>
                  <a:pt x="122575" y="304621"/>
                </a:cubicBezTo>
                <a:cubicBezTo>
                  <a:pt x="123349" y="304860"/>
                  <a:pt x="124242" y="304860"/>
                  <a:pt x="125016" y="304621"/>
                </a:cubicBezTo>
                <a:cubicBezTo>
                  <a:pt x="125135" y="304562"/>
                  <a:pt x="125254" y="304502"/>
                  <a:pt x="125373" y="304502"/>
                </a:cubicBezTo>
                <a:cubicBezTo>
                  <a:pt x="125670" y="304383"/>
                  <a:pt x="125968" y="304324"/>
                  <a:pt x="126206" y="304145"/>
                </a:cubicBezTo>
                <a:lnTo>
                  <a:pt x="240863" y="238185"/>
                </a:lnTo>
                <a:cubicBezTo>
                  <a:pt x="241578" y="237768"/>
                  <a:pt x="242173" y="237173"/>
                  <a:pt x="242590" y="236458"/>
                </a:cubicBezTo>
                <a:cubicBezTo>
                  <a:pt x="243007" y="235744"/>
                  <a:pt x="243245" y="234910"/>
                  <a:pt x="243245" y="234077"/>
                </a:cubicBezTo>
                <a:lnTo>
                  <a:pt x="243245" y="171390"/>
                </a:lnTo>
                <a:lnTo>
                  <a:pt x="298133" y="139779"/>
                </a:lnTo>
                <a:cubicBezTo>
                  <a:pt x="298847" y="139363"/>
                  <a:pt x="299442" y="138767"/>
                  <a:pt x="299859" y="137993"/>
                </a:cubicBezTo>
                <a:cubicBezTo>
                  <a:pt x="300276" y="137220"/>
                  <a:pt x="300514" y="136446"/>
                  <a:pt x="300514" y="135612"/>
                </a:cubicBezTo>
                <a:lnTo>
                  <a:pt x="300514" y="70247"/>
                </a:lnTo>
                <a:cubicBezTo>
                  <a:pt x="300514" y="69830"/>
                  <a:pt x="300454" y="69413"/>
                  <a:pt x="300395" y="68997"/>
                </a:cubicBezTo>
                <a:close/>
                <a:moveTo>
                  <a:pt x="66556" y="10299"/>
                </a:moveTo>
                <a:lnTo>
                  <a:pt x="114300" y="37743"/>
                </a:lnTo>
                <a:lnTo>
                  <a:pt x="66556" y="65246"/>
                </a:lnTo>
                <a:lnTo>
                  <a:pt x="18812" y="37743"/>
                </a:lnTo>
                <a:lnTo>
                  <a:pt x="66556" y="10239"/>
                </a:lnTo>
                <a:close/>
                <a:moveTo>
                  <a:pt x="119062" y="46018"/>
                </a:moveTo>
                <a:lnTo>
                  <a:pt x="119062" y="165854"/>
                </a:lnTo>
                <a:cubicBezTo>
                  <a:pt x="99298" y="177225"/>
                  <a:pt x="83403" y="186392"/>
                  <a:pt x="71318" y="193358"/>
                </a:cubicBezTo>
                <a:lnTo>
                  <a:pt x="71318" y="73521"/>
                </a:lnTo>
                <a:cubicBezTo>
                  <a:pt x="91083" y="62151"/>
                  <a:pt x="106978" y="52983"/>
                  <a:pt x="119062" y="46018"/>
                </a:cubicBezTo>
                <a:close/>
                <a:moveTo>
                  <a:pt x="119062" y="291763"/>
                </a:moveTo>
                <a:lnTo>
                  <a:pt x="13990" y="231279"/>
                </a:lnTo>
                <a:lnTo>
                  <a:pt x="13990" y="46018"/>
                </a:lnTo>
                <a:cubicBezTo>
                  <a:pt x="26075" y="52983"/>
                  <a:pt x="42029" y="62151"/>
                  <a:pt x="61734" y="73521"/>
                </a:cubicBezTo>
                <a:lnTo>
                  <a:pt x="61734" y="201632"/>
                </a:lnTo>
                <a:cubicBezTo>
                  <a:pt x="61734" y="201811"/>
                  <a:pt x="61793" y="201990"/>
                  <a:pt x="61793" y="202168"/>
                </a:cubicBezTo>
                <a:cubicBezTo>
                  <a:pt x="61793" y="202406"/>
                  <a:pt x="61853" y="202644"/>
                  <a:pt x="61912" y="202882"/>
                </a:cubicBezTo>
                <a:cubicBezTo>
                  <a:pt x="61972" y="203061"/>
                  <a:pt x="62032" y="203240"/>
                  <a:pt x="62151" y="203418"/>
                </a:cubicBezTo>
                <a:cubicBezTo>
                  <a:pt x="62210" y="203597"/>
                  <a:pt x="62329" y="203835"/>
                  <a:pt x="62389" y="204014"/>
                </a:cubicBezTo>
                <a:cubicBezTo>
                  <a:pt x="62508" y="204192"/>
                  <a:pt x="62627" y="204311"/>
                  <a:pt x="62746" y="204490"/>
                </a:cubicBezTo>
                <a:cubicBezTo>
                  <a:pt x="62865" y="204668"/>
                  <a:pt x="62984" y="204847"/>
                  <a:pt x="63163" y="204966"/>
                </a:cubicBezTo>
                <a:cubicBezTo>
                  <a:pt x="63282" y="205085"/>
                  <a:pt x="63460" y="205204"/>
                  <a:pt x="63639" y="205323"/>
                </a:cubicBezTo>
                <a:cubicBezTo>
                  <a:pt x="63818" y="205442"/>
                  <a:pt x="63996" y="205621"/>
                  <a:pt x="64175" y="205740"/>
                </a:cubicBezTo>
                <a:lnTo>
                  <a:pt x="119062" y="236815"/>
                </a:lnTo>
                <a:lnTo>
                  <a:pt x="119122" y="291822"/>
                </a:lnTo>
                <a:close/>
                <a:moveTo>
                  <a:pt x="123825" y="228540"/>
                </a:moveTo>
                <a:lnTo>
                  <a:pt x="76200" y="201573"/>
                </a:lnTo>
                <a:cubicBezTo>
                  <a:pt x="108764" y="182820"/>
                  <a:pt x="143768" y="162699"/>
                  <a:pt x="181154" y="141149"/>
                </a:cubicBezTo>
                <a:lnTo>
                  <a:pt x="228838" y="168593"/>
                </a:lnTo>
                <a:cubicBezTo>
                  <a:pt x="211336" y="178594"/>
                  <a:pt x="176332" y="198537"/>
                  <a:pt x="123825" y="228540"/>
                </a:cubicBezTo>
                <a:close/>
                <a:moveTo>
                  <a:pt x="233660" y="231279"/>
                </a:moveTo>
                <a:lnTo>
                  <a:pt x="128588" y="291763"/>
                </a:lnTo>
                <a:lnTo>
                  <a:pt x="128588" y="236815"/>
                </a:lnTo>
                <a:cubicBezTo>
                  <a:pt x="188952" y="202406"/>
                  <a:pt x="223957" y="182404"/>
                  <a:pt x="233660" y="176808"/>
                </a:cubicBezTo>
                <a:lnTo>
                  <a:pt x="233660" y="231219"/>
                </a:lnTo>
                <a:close/>
                <a:moveTo>
                  <a:pt x="233660" y="160377"/>
                </a:moveTo>
                <a:cubicBezTo>
                  <a:pt x="221575" y="153472"/>
                  <a:pt x="205621" y="144304"/>
                  <a:pt x="185916" y="132933"/>
                </a:cubicBezTo>
                <a:lnTo>
                  <a:pt x="185916" y="78522"/>
                </a:lnTo>
                <a:cubicBezTo>
                  <a:pt x="198001" y="85487"/>
                  <a:pt x="213955" y="94655"/>
                  <a:pt x="233660" y="106025"/>
                </a:cubicBezTo>
                <a:lnTo>
                  <a:pt x="233660" y="160377"/>
                </a:lnTo>
                <a:close/>
                <a:moveTo>
                  <a:pt x="238423" y="97691"/>
                </a:moveTo>
                <a:lnTo>
                  <a:pt x="190679" y="70187"/>
                </a:lnTo>
                <a:lnTo>
                  <a:pt x="238423" y="42684"/>
                </a:lnTo>
                <a:lnTo>
                  <a:pt x="286167" y="70128"/>
                </a:lnTo>
                <a:lnTo>
                  <a:pt x="238423" y="97631"/>
                </a:lnTo>
                <a:close/>
                <a:moveTo>
                  <a:pt x="243185" y="160377"/>
                </a:moveTo>
                <a:lnTo>
                  <a:pt x="243185" y="106025"/>
                </a:lnTo>
                <a:cubicBezTo>
                  <a:pt x="262950" y="94655"/>
                  <a:pt x="278904" y="85487"/>
                  <a:pt x="290989" y="78522"/>
                </a:cubicBezTo>
                <a:lnTo>
                  <a:pt x="290989" y="132933"/>
                </a:lnTo>
                <a:lnTo>
                  <a:pt x="243185" y="160437"/>
                </a:ln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10" name="Text 8"/>
          <p:cNvSpPr/>
          <p:nvPr/>
        </p:nvSpPr>
        <p:spPr>
          <a:xfrm>
            <a:off x="1397000" y="3530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Laravel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0600" y="3962400"/>
            <a:ext cx="2984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Framework MVC complet avec Eloquent ORM, Blade, routing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08500" y="3365500"/>
            <a:ext cx="342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98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7100" y="355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5943" y="0"/>
                </a:moveTo>
                <a:lnTo>
                  <a:pt x="87086" y="0"/>
                </a:lnTo>
                <a:cubicBezTo>
                  <a:pt x="75043" y="0"/>
                  <a:pt x="65314" y="8513"/>
                  <a:pt x="65314" y="19050"/>
                </a:cubicBezTo>
                <a:cubicBezTo>
                  <a:pt x="65314" y="29587"/>
                  <a:pt x="75043" y="38100"/>
                  <a:pt x="87086" y="38100"/>
                </a:cubicBezTo>
                <a:lnTo>
                  <a:pt x="87086" y="128290"/>
                </a:lnTo>
                <a:lnTo>
                  <a:pt x="5103" y="253782"/>
                </a:lnTo>
                <a:cubicBezTo>
                  <a:pt x="1769" y="258961"/>
                  <a:pt x="0" y="264735"/>
                  <a:pt x="0" y="270689"/>
                </a:cubicBezTo>
                <a:cubicBezTo>
                  <a:pt x="0" y="289560"/>
                  <a:pt x="17417" y="304800"/>
                  <a:pt x="38984" y="304800"/>
                </a:cubicBezTo>
                <a:lnTo>
                  <a:pt x="265816" y="304800"/>
                </a:lnTo>
                <a:cubicBezTo>
                  <a:pt x="287315" y="304800"/>
                  <a:pt x="304800" y="289560"/>
                  <a:pt x="304800" y="270689"/>
                </a:cubicBezTo>
                <a:cubicBezTo>
                  <a:pt x="304800" y="264735"/>
                  <a:pt x="303031" y="258901"/>
                  <a:pt x="299697" y="253782"/>
                </a:cubicBezTo>
                <a:lnTo>
                  <a:pt x="217714" y="128290"/>
                </a:lnTo>
                <a:lnTo>
                  <a:pt x="217714" y="38100"/>
                </a:lnTo>
                <a:cubicBezTo>
                  <a:pt x="229757" y="38100"/>
                  <a:pt x="239486" y="29587"/>
                  <a:pt x="239486" y="19050"/>
                </a:cubicBezTo>
                <a:cubicBezTo>
                  <a:pt x="239486" y="8513"/>
                  <a:pt x="229757" y="0"/>
                  <a:pt x="217714" y="0"/>
                </a:cubicBezTo>
                <a:lnTo>
                  <a:pt x="195943" y="0"/>
                </a:lnTo>
                <a:close/>
                <a:moveTo>
                  <a:pt x="130629" y="128290"/>
                </a:moveTo>
                <a:lnTo>
                  <a:pt x="130629" y="38100"/>
                </a:lnTo>
                <a:lnTo>
                  <a:pt x="174171" y="38100"/>
                </a:lnTo>
                <a:lnTo>
                  <a:pt x="174171" y="128290"/>
                </a:lnTo>
                <a:cubicBezTo>
                  <a:pt x="174171" y="134898"/>
                  <a:pt x="176144" y="141446"/>
                  <a:pt x="179886" y="147221"/>
                </a:cubicBezTo>
                <a:lnTo>
                  <a:pt x="208189" y="190500"/>
                </a:lnTo>
                <a:lnTo>
                  <a:pt x="96611" y="190500"/>
                </a:lnTo>
                <a:lnTo>
                  <a:pt x="124914" y="147221"/>
                </a:lnTo>
                <a:cubicBezTo>
                  <a:pt x="128656" y="141446"/>
                  <a:pt x="130629" y="134957"/>
                  <a:pt x="130629" y="128290"/>
                </a:cubicBez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14" name="Text 12"/>
          <p:cNvSpPr/>
          <p:nvPr/>
        </p:nvSpPr>
        <p:spPr>
          <a:xfrm>
            <a:off x="5143500" y="3530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PHPUnit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37100" y="3962400"/>
            <a:ext cx="2984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Framework de tests unitaires standard pour PHP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55000" y="3365500"/>
            <a:ext cx="342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98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83600" y="355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" y="38100"/>
                </a:moveTo>
                <a:cubicBezTo>
                  <a:pt x="12799" y="38100"/>
                  <a:pt x="0" y="50899"/>
                  <a:pt x="0" y="66675"/>
                </a:cubicBezTo>
                <a:cubicBezTo>
                  <a:pt x="0" y="75664"/>
                  <a:pt x="4227" y="84118"/>
                  <a:pt x="11430" y="89535"/>
                </a:cubicBezTo>
                <a:lnTo>
                  <a:pt x="135255" y="182404"/>
                </a:lnTo>
                <a:cubicBezTo>
                  <a:pt x="145435" y="190024"/>
                  <a:pt x="159365" y="190024"/>
                  <a:pt x="169545" y="182404"/>
                </a:cubicBezTo>
                <a:lnTo>
                  <a:pt x="293370" y="89535"/>
                </a:lnTo>
                <a:cubicBezTo>
                  <a:pt x="300573" y="84118"/>
                  <a:pt x="304800" y="75664"/>
                  <a:pt x="304800" y="66675"/>
                </a:cubicBezTo>
                <a:cubicBezTo>
                  <a:pt x="304800" y="50899"/>
                  <a:pt x="292001" y="38100"/>
                  <a:pt x="276225" y="38100"/>
                </a:cubicBezTo>
                <a:lnTo>
                  <a:pt x="28575" y="38100"/>
                </a:lnTo>
                <a:close/>
                <a:moveTo>
                  <a:pt x="0" y="116681"/>
                </a:moveTo>
                <a:lnTo>
                  <a:pt x="0" y="228600"/>
                </a:lnTo>
                <a:cubicBezTo>
                  <a:pt x="0" y="249615"/>
                  <a:pt x="17085" y="266700"/>
                  <a:pt x="38100" y="266700"/>
                </a:cubicBezTo>
                <a:lnTo>
                  <a:pt x="266700" y="266700"/>
                </a:lnTo>
                <a:cubicBezTo>
                  <a:pt x="287715" y="266700"/>
                  <a:pt x="304800" y="249615"/>
                  <a:pt x="304800" y="228600"/>
                </a:cubicBezTo>
                <a:lnTo>
                  <a:pt x="304800" y="116681"/>
                </a:lnTo>
                <a:lnTo>
                  <a:pt x="186690" y="205264"/>
                </a:lnTo>
                <a:cubicBezTo>
                  <a:pt x="166390" y="220504"/>
                  <a:pt x="138410" y="220504"/>
                  <a:pt x="118110" y="205264"/>
                </a:cubicBezTo>
                <a:lnTo>
                  <a:pt x="0" y="116681"/>
                </a:ln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18" name="Text 16"/>
          <p:cNvSpPr/>
          <p:nvPr/>
        </p:nvSpPr>
        <p:spPr>
          <a:xfrm>
            <a:off x="8890000" y="3530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PHPMailer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83600" y="3962400"/>
            <a:ext cx="2984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Envoi d'emails robuste avec SMTP, HTML, pièces jointes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001500" y="3365500"/>
            <a:ext cx="34925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98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2230100" y="355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22" name="Text 20"/>
          <p:cNvSpPr/>
          <p:nvPr/>
        </p:nvSpPr>
        <p:spPr>
          <a:xfrm>
            <a:off x="12636500" y="3530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Carbon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230100" y="3962400"/>
            <a:ext cx="304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Extension de DateTime pour la manipulation de dates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2000" y="5334000"/>
            <a:ext cx="14732000" cy="3111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2000" y="5334000"/>
            <a:ext cx="63500" cy="31115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79500" y="5524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Importance dans le développement moderne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79500" y="6070600"/>
            <a:ext cx="14097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Accès instantané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à des solutions éprouvées et maintenues par la communauté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Gain de temps considérable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réinventer la roue n'est plus nécessaire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Fiabilité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packages testés, documentés, avec des milliers de téléchargements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Collaboration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publiez vos propres packages et contribuez à l'écosystème PHP</a:t>
            </a:r>
            <a:endParaRPr lang="en-US" sz="1700" dirty="0"/>
          </a:p>
          <a:p>
            <a:pPr algn="l">
              <a:lnSpc>
                <a:spcPct val="170000"/>
              </a:lnSpc>
            </a:pPr>
            <a:r>
              <a:rPr lang="en-US" sz="17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Sécurité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mises à jour régulières et alertes de vulnérabilités via composer audit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62000" y="86995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100" kern="0" dirty="0">
                <a:solidFill>
                  <a:srgbClr val="8B7D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PACKAGIST.ORG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859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4erbgbvbrrpo/mnt/agents/output/php-professionnalisation/images/4_3_153_Software_Engineering_Purple.png">    </p:cNvPr>
          <p:cNvPicPr>
            <a:picLocks noChangeAspect="1"/>
          </p:cNvPicPr>
          <p:nvPr/>
        </p:nvPicPr>
        <p:blipFill>
          <a:blip r:embed="rId1"/>
          <a:srcRect l="7527" r="7527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1B2E">
                  <a:alpha val="91000"/>
                </a:srgbClr>
              </a:gs>
              <a:gs pos="60000">
                <a:srgbClr val="1E1B2E">
                  <a:alpha val="80000"/>
                </a:srgbClr>
              </a:gs>
              <a:gs pos="100000">
                <a:srgbClr val="1E1B2E">
                  <a:alpha val="6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381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 spc="100" kern="0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Namespace en PHP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62000" y="4826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Organisation et structuration du code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Namespaces — Organisation du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71600"/>
            <a:ext cx="1270000" cy="330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716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spc="100" kern="0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2000" y="1879600"/>
            <a:ext cx="7112000" cy="311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Définition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mécanisme d'encapsulation permettant d'organiser les classes dans des </a:t>
            </a:r>
            <a:pPr algn="l">
              <a:lnSpc>
                <a:spcPct val="170000"/>
              </a:lnSpc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groupes logiques</a:t>
            </a:r>
            <a:pPr algn="l">
              <a:lnSpc>
                <a:spcPct val="17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7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Rôle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organisation hiérarchique du code, similaire aux 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dossiers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sur un système de fichiers.</a:t>
            </a:r>
            <a:endParaRPr lang="en-US" sz="17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Avantage clé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deux classes peuvent avoir le même nom dans des namespaces différents — 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 de conflits</a:t>
            </a:r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382000" y="1371600"/>
            <a:ext cx="1270000" cy="330200"/>
          </a:xfrm>
          <a:prstGeom prst="roundRect">
            <a:avLst>
              <a:gd name="adj" fmla="val 12000"/>
            </a:avLst>
          </a:prstGeom>
          <a:solidFill>
            <a:srgbClr val="4CAF7D"/>
          </a:solidFill>
          <a:ln/>
        </p:spPr>
      </p:sp>
      <p:sp>
        <p:nvSpPr>
          <p:cNvPr id="9" name="Text 7"/>
          <p:cNvSpPr/>
          <p:nvPr/>
        </p:nvSpPr>
        <p:spPr>
          <a:xfrm>
            <a:off x="8382000" y="13716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spc="100" kern="0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EXEMPLE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82000" y="1841500"/>
            <a:ext cx="7112000" cy="3302000"/>
          </a:xfrm>
          <a:prstGeom prst="roundRect">
            <a:avLst>
              <a:gd name="adj" fmla="val 6000"/>
            </a:avLst>
          </a:prstGeom>
          <a:solidFill>
            <a:srgbClr val="EDE9F2"/>
          </a:solidFill>
          <a:ln w="12700">
            <a:solidFill>
              <a:srgbClr val="D4CD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36000" y="2006600"/>
            <a:ext cx="6604000" cy="311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Déclaration d'un namespace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namespace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5B4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App\Services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</a:t>
            </a:r>
            <a:endParaRPr lang="en-US" sz="1400" dirty="0"/>
          </a:p>
          <a:p>
            <a:pPr algn="l">
              <a:lnSpc>
                <a:spcPct val="160000"/>
              </a:lnSpc>
            </a:pP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WalletService {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public function getBalance() { ... }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400" dirty="0"/>
          </a:p>
          <a:p>
            <a:pPr algn="l">
              <a:lnSpc>
                <a:spcPct val="160000"/>
              </a:lnSpc>
            </a:pP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Utilisation avec use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5B4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App\Services\WalletService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" y="5207000"/>
            <a:ext cx="14732000" cy="3238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2000" y="5207000"/>
            <a:ext cx="63500" cy="32385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" y="5397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 typique d'un projet PHP moderne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79500" y="5905500"/>
            <a:ext cx="6858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5B4B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src/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├──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Controller/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 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App\Controller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├──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Service/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    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App\Service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├──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Repository/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 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App\Repository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├──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Validator/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  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App\Validator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└──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Model/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        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App\Model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82000" y="5905500"/>
            <a:ext cx="6858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simplifie l'accès aux classes :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○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Évite de taper le FQCN complet à chaque usage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○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Rend le code plus lisible et maintenable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○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Fonctionne avec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Composer + PSR-4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L'autoloading PSR-4 mappe automatiquement les namespaces aux dossiers du projet via composer.json.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2000" y="86995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100" kern="0" dirty="0">
                <a:solidFill>
                  <a:srgbClr val="8B7D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NAMESPACE EN PHP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859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4erbgbvbrrpo/mnt/agents/output/php-professionnalisation/images/5_Dark_Abstract_Background_Modern_Technology.png">    </p:cNvPr>
          <p:cNvPicPr>
            <a:picLocks noChangeAspect="1"/>
          </p:cNvPicPr>
          <p:nvPr/>
        </p:nvPicPr>
        <p:blipFill>
          <a:blip r:embed="rId1"/>
          <a:srcRect l="2137" r="2137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1B2E">
                  <a:alpha val="91000"/>
                </a:srgbClr>
              </a:gs>
              <a:gs pos="60000">
                <a:srgbClr val="1E1B2E">
                  <a:alpha val="80000"/>
                </a:srgbClr>
              </a:gs>
              <a:gs pos="100000">
                <a:srgbClr val="1E1B2E">
                  <a:alpha val="6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381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1143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 spc="100" kern="0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Améliorations apportées dans la Partie B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62000" y="4826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Modernisation concrète du projet wallet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Remplacement des foreach et structuration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 modernisation du projet wallet repose sur deux piliers : l'adoption de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fonctions de tableau modernes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une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en couches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bien définie.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62000" y="2222500"/>
            <a:ext cx="71120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98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2222500"/>
            <a:ext cx="63500" cy="29210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8" name="Shape 6"/>
          <p:cNvSpPr/>
          <p:nvPr/>
        </p:nvSpPr>
        <p:spPr>
          <a:xfrm>
            <a:off x="1041400" y="241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9071" y="104596"/>
                </a:moveTo>
                <a:lnTo>
                  <a:pt x="282396" y="171271"/>
                </a:lnTo>
                <a:cubicBezTo>
                  <a:pt x="276007" y="177661"/>
                  <a:pt x="266492" y="179536"/>
                  <a:pt x="258157" y="176064"/>
                </a:cubicBezTo>
                <a:cubicBezTo>
                  <a:pt x="249823" y="172591"/>
                  <a:pt x="244475" y="164534"/>
                  <a:pt x="244475" y="155575"/>
                </a:cubicBezTo>
                <a:lnTo>
                  <a:pt x="244475" y="111125"/>
                </a:lnTo>
                <a:lnTo>
                  <a:pt x="22225" y="111125"/>
                </a:lnTo>
                <a:cubicBezTo>
                  <a:pt x="9932" y="111125"/>
                  <a:pt x="0" y="101193"/>
                  <a:pt x="0" y="88900"/>
                </a:cubicBezTo>
                <a:cubicBezTo>
                  <a:pt x="0" y="76607"/>
                  <a:pt x="9932" y="66675"/>
                  <a:pt x="22225" y="66675"/>
                </a:cubicBezTo>
                <a:lnTo>
                  <a:pt x="244475" y="66675"/>
                </a:lnTo>
                <a:lnTo>
                  <a:pt x="244475" y="22225"/>
                </a:lnTo>
                <a:cubicBezTo>
                  <a:pt x="244475" y="13266"/>
                  <a:pt x="249892" y="5140"/>
                  <a:pt x="258227" y="1667"/>
                </a:cubicBezTo>
                <a:cubicBezTo>
                  <a:pt x="266561" y="-1806"/>
                  <a:pt x="276076" y="139"/>
                  <a:pt x="282466" y="6459"/>
                </a:cubicBezTo>
                <a:lnTo>
                  <a:pt x="349141" y="73134"/>
                </a:lnTo>
                <a:cubicBezTo>
                  <a:pt x="357823" y="81816"/>
                  <a:pt x="357823" y="95915"/>
                  <a:pt x="349141" y="104596"/>
                </a:cubicBezTo>
                <a:close/>
                <a:moveTo>
                  <a:pt x="73134" y="349071"/>
                </a:moveTo>
                <a:lnTo>
                  <a:pt x="6459" y="282396"/>
                </a:lnTo>
                <a:cubicBezTo>
                  <a:pt x="-2222" y="273715"/>
                  <a:pt x="-2222" y="259616"/>
                  <a:pt x="6459" y="250934"/>
                </a:cubicBezTo>
                <a:lnTo>
                  <a:pt x="73134" y="184259"/>
                </a:lnTo>
                <a:cubicBezTo>
                  <a:pt x="79524" y="177869"/>
                  <a:pt x="89039" y="175994"/>
                  <a:pt x="97373" y="179467"/>
                </a:cubicBezTo>
                <a:cubicBezTo>
                  <a:pt x="105708" y="182940"/>
                  <a:pt x="111125" y="191066"/>
                  <a:pt x="111125" y="200025"/>
                </a:cubicBezTo>
                <a:lnTo>
                  <a:pt x="111125" y="244475"/>
                </a:lnTo>
                <a:lnTo>
                  <a:pt x="333375" y="244475"/>
                </a:lnTo>
                <a:cubicBezTo>
                  <a:pt x="345668" y="244475"/>
                  <a:pt x="355600" y="254407"/>
                  <a:pt x="355600" y="266700"/>
                </a:cubicBezTo>
                <a:cubicBezTo>
                  <a:pt x="355600" y="278993"/>
                  <a:pt x="345668" y="288925"/>
                  <a:pt x="333375" y="288925"/>
                </a:cubicBezTo>
                <a:lnTo>
                  <a:pt x="111125" y="288925"/>
                </a:lnTo>
                <a:lnTo>
                  <a:pt x="111125" y="333375"/>
                </a:lnTo>
                <a:cubicBezTo>
                  <a:pt x="111125" y="342334"/>
                  <a:pt x="105708" y="350460"/>
                  <a:pt x="97373" y="353933"/>
                </a:cubicBezTo>
                <a:cubicBezTo>
                  <a:pt x="89039" y="357406"/>
                  <a:pt x="79524" y="355461"/>
                  <a:pt x="73134" y="349141"/>
                </a:cubicBez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23876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Remplacement des foreach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1400" y="2895600"/>
            <a:ext cx="65786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array_map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les transformations de données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array_filter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les filtres et sélections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Code plus concis et expressif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Adoption de patterns professionnels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2222500"/>
            <a:ext cx="71120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98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82000" y="2222500"/>
            <a:ext cx="63500" cy="292100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13" name="Shape 11"/>
          <p:cNvSpPr/>
          <p:nvPr/>
        </p:nvSpPr>
        <p:spPr>
          <a:xfrm>
            <a:off x="8661400" y="241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4CAF7D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23876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Séparation des responsabilités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61400" y="2895600"/>
            <a:ext cx="65786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4CAF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Chaque classe a un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rôle unique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4CAF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Architecture en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couches indépendantes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4CAF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Fini le code spaghetti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4CAF7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Fondation pour les frameworks MVC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5461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en 4 couches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5969000"/>
            <a:ext cx="3429000" cy="2222500"/>
          </a:xfrm>
          <a:prstGeom prst="roundRect">
            <a:avLst>
              <a:gd name="adj" fmla="val 8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76200" dist="38100" dir="5400000">
              <a:srgbClr val="000000">
                <a:alpha val="8235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16000" y="622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8920" y="44450"/>
                </a:moveTo>
                <a:cubicBezTo>
                  <a:pt x="307816" y="44450"/>
                  <a:pt x="355600" y="104180"/>
                  <a:pt x="355600" y="177800"/>
                </a:cubicBezTo>
                <a:cubicBezTo>
                  <a:pt x="355600" y="251420"/>
                  <a:pt x="307816" y="311150"/>
                  <a:pt x="248920" y="311150"/>
                </a:cubicBezTo>
                <a:lnTo>
                  <a:pt x="106680" y="311150"/>
                </a:lnTo>
                <a:cubicBezTo>
                  <a:pt x="47784" y="311150"/>
                  <a:pt x="0" y="251420"/>
                  <a:pt x="0" y="177800"/>
                </a:cubicBezTo>
                <a:cubicBezTo>
                  <a:pt x="0" y="104180"/>
                  <a:pt x="47784" y="44450"/>
                  <a:pt x="106680" y="44450"/>
                </a:cubicBezTo>
                <a:lnTo>
                  <a:pt x="248920" y="44450"/>
                </a:lnTo>
                <a:close/>
                <a:moveTo>
                  <a:pt x="106680" y="122238"/>
                </a:moveTo>
                <a:cubicBezTo>
                  <a:pt x="99290" y="122238"/>
                  <a:pt x="93345" y="129669"/>
                  <a:pt x="93345" y="138906"/>
                </a:cubicBezTo>
                <a:lnTo>
                  <a:pt x="93345" y="161131"/>
                </a:lnTo>
                <a:lnTo>
                  <a:pt x="75565" y="161131"/>
                </a:lnTo>
                <a:cubicBezTo>
                  <a:pt x="68175" y="161131"/>
                  <a:pt x="62230" y="168563"/>
                  <a:pt x="62230" y="177800"/>
                </a:cubicBezTo>
                <a:cubicBezTo>
                  <a:pt x="62230" y="187037"/>
                  <a:pt x="68175" y="194469"/>
                  <a:pt x="75565" y="194469"/>
                </a:cubicBezTo>
                <a:lnTo>
                  <a:pt x="93345" y="194469"/>
                </a:lnTo>
                <a:lnTo>
                  <a:pt x="93345" y="216694"/>
                </a:lnTo>
                <a:cubicBezTo>
                  <a:pt x="93345" y="225931"/>
                  <a:pt x="99290" y="233363"/>
                  <a:pt x="106680" y="233363"/>
                </a:cubicBezTo>
                <a:cubicBezTo>
                  <a:pt x="114070" y="233363"/>
                  <a:pt x="120015" y="225931"/>
                  <a:pt x="120015" y="216694"/>
                </a:cubicBezTo>
                <a:lnTo>
                  <a:pt x="120015" y="194469"/>
                </a:lnTo>
                <a:lnTo>
                  <a:pt x="137795" y="194469"/>
                </a:lnTo>
                <a:cubicBezTo>
                  <a:pt x="145185" y="194469"/>
                  <a:pt x="151130" y="187037"/>
                  <a:pt x="151130" y="177800"/>
                </a:cubicBezTo>
                <a:cubicBezTo>
                  <a:pt x="151130" y="168563"/>
                  <a:pt x="145185" y="161131"/>
                  <a:pt x="137795" y="161131"/>
                </a:cubicBezTo>
                <a:lnTo>
                  <a:pt x="120015" y="161131"/>
                </a:lnTo>
                <a:lnTo>
                  <a:pt x="120015" y="138906"/>
                </a:lnTo>
                <a:cubicBezTo>
                  <a:pt x="120015" y="129669"/>
                  <a:pt x="114070" y="122238"/>
                  <a:pt x="106680" y="122238"/>
                </a:cubicBezTo>
                <a:close/>
                <a:moveTo>
                  <a:pt x="240030" y="188913"/>
                </a:moveTo>
                <a:cubicBezTo>
                  <a:pt x="230217" y="188913"/>
                  <a:pt x="222250" y="198871"/>
                  <a:pt x="222250" y="211138"/>
                </a:cubicBezTo>
                <a:cubicBezTo>
                  <a:pt x="222250" y="223404"/>
                  <a:pt x="230217" y="233363"/>
                  <a:pt x="240030" y="233363"/>
                </a:cubicBezTo>
                <a:cubicBezTo>
                  <a:pt x="249843" y="233363"/>
                  <a:pt x="257810" y="223404"/>
                  <a:pt x="257810" y="211138"/>
                </a:cubicBezTo>
                <a:cubicBezTo>
                  <a:pt x="257810" y="198871"/>
                  <a:pt x="249843" y="188913"/>
                  <a:pt x="240030" y="188913"/>
                </a:cubicBezTo>
                <a:close/>
                <a:moveTo>
                  <a:pt x="275590" y="122238"/>
                </a:moveTo>
                <a:cubicBezTo>
                  <a:pt x="265777" y="122238"/>
                  <a:pt x="257810" y="132196"/>
                  <a:pt x="257810" y="144463"/>
                </a:cubicBezTo>
                <a:cubicBezTo>
                  <a:pt x="257810" y="156729"/>
                  <a:pt x="265777" y="166688"/>
                  <a:pt x="275590" y="166688"/>
                </a:cubicBezTo>
                <a:cubicBezTo>
                  <a:pt x="285403" y="166688"/>
                  <a:pt x="293370" y="156729"/>
                  <a:pt x="293370" y="144463"/>
                </a:cubicBezTo>
                <a:cubicBezTo>
                  <a:pt x="293370" y="132196"/>
                  <a:pt x="285403" y="122238"/>
                  <a:pt x="275590" y="122238"/>
                </a:cubicBez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67056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Controller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16000" y="71120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Gère les requêtes HTTP et les réponses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08500" y="5969000"/>
            <a:ext cx="3429000" cy="2222500"/>
          </a:xfrm>
          <a:prstGeom prst="roundRect">
            <a:avLst>
              <a:gd name="adj" fmla="val 8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76200" dist="38100" dir="5400000">
              <a:srgbClr val="000000">
                <a:alpha val="8235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62500" y="622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1084" y="146199"/>
                </a:moveTo>
                <a:cubicBezTo>
                  <a:pt x="237863" y="143907"/>
                  <a:pt x="244975" y="147935"/>
                  <a:pt x="248031" y="155783"/>
                </a:cubicBezTo>
                <a:lnTo>
                  <a:pt x="258366" y="181898"/>
                </a:lnTo>
                <a:cubicBezTo>
                  <a:pt x="264089" y="182870"/>
                  <a:pt x="269700" y="184815"/>
                  <a:pt x="274979" y="187523"/>
                </a:cubicBezTo>
                <a:lnTo>
                  <a:pt x="294426" y="171341"/>
                </a:lnTo>
                <a:cubicBezTo>
                  <a:pt x="300260" y="166479"/>
                  <a:pt x="307983" y="167451"/>
                  <a:pt x="312928" y="173633"/>
                </a:cubicBezTo>
                <a:lnTo>
                  <a:pt x="323596" y="186968"/>
                </a:lnTo>
                <a:cubicBezTo>
                  <a:pt x="328541" y="193149"/>
                  <a:pt x="329319" y="202873"/>
                  <a:pt x="325430" y="210096"/>
                </a:cubicBezTo>
                <a:lnTo>
                  <a:pt x="312483" y="234335"/>
                </a:lnTo>
                <a:cubicBezTo>
                  <a:pt x="313539" y="237599"/>
                  <a:pt x="314484" y="241002"/>
                  <a:pt x="315262" y="244544"/>
                </a:cubicBezTo>
                <a:cubicBezTo>
                  <a:pt x="316039" y="248087"/>
                  <a:pt x="316540" y="251559"/>
                  <a:pt x="316928" y="255101"/>
                </a:cubicBezTo>
                <a:lnTo>
                  <a:pt x="337876" y="268020"/>
                </a:lnTo>
                <a:cubicBezTo>
                  <a:pt x="344154" y="271909"/>
                  <a:pt x="347377" y="280799"/>
                  <a:pt x="345543" y="289203"/>
                </a:cubicBezTo>
                <a:lnTo>
                  <a:pt x="341654" y="307400"/>
                </a:lnTo>
                <a:cubicBezTo>
                  <a:pt x="339820" y="315803"/>
                  <a:pt x="333542" y="321499"/>
                  <a:pt x="326541" y="320943"/>
                </a:cubicBezTo>
                <a:lnTo>
                  <a:pt x="303205" y="319068"/>
                </a:lnTo>
                <a:cubicBezTo>
                  <a:pt x="299704" y="324693"/>
                  <a:pt x="295648" y="329902"/>
                  <a:pt x="291036" y="334347"/>
                </a:cubicBezTo>
                <a:lnTo>
                  <a:pt x="292537" y="363448"/>
                </a:lnTo>
                <a:cubicBezTo>
                  <a:pt x="292981" y="372199"/>
                  <a:pt x="288425" y="380117"/>
                  <a:pt x="281702" y="382339"/>
                </a:cubicBezTo>
                <a:lnTo>
                  <a:pt x="267145" y="387201"/>
                </a:lnTo>
                <a:cubicBezTo>
                  <a:pt x="260366" y="389493"/>
                  <a:pt x="253309" y="385465"/>
                  <a:pt x="250198" y="377617"/>
                </a:cubicBezTo>
                <a:lnTo>
                  <a:pt x="239863" y="351502"/>
                </a:lnTo>
                <a:cubicBezTo>
                  <a:pt x="234140" y="350530"/>
                  <a:pt x="228529" y="348585"/>
                  <a:pt x="223250" y="345877"/>
                </a:cubicBezTo>
                <a:lnTo>
                  <a:pt x="203803" y="362059"/>
                </a:lnTo>
                <a:cubicBezTo>
                  <a:pt x="197969" y="366921"/>
                  <a:pt x="190246" y="365949"/>
                  <a:pt x="185301" y="359767"/>
                </a:cubicBezTo>
                <a:lnTo>
                  <a:pt x="174633" y="346432"/>
                </a:lnTo>
                <a:cubicBezTo>
                  <a:pt x="169688" y="340251"/>
                  <a:pt x="168910" y="330597"/>
                  <a:pt x="172799" y="323304"/>
                </a:cubicBezTo>
                <a:lnTo>
                  <a:pt x="185745" y="298996"/>
                </a:lnTo>
                <a:cubicBezTo>
                  <a:pt x="184690" y="295731"/>
                  <a:pt x="183745" y="292328"/>
                  <a:pt x="182967" y="288786"/>
                </a:cubicBezTo>
                <a:cubicBezTo>
                  <a:pt x="182189" y="285244"/>
                  <a:pt x="181689" y="281702"/>
                  <a:pt x="181300" y="278229"/>
                </a:cubicBezTo>
                <a:lnTo>
                  <a:pt x="160353" y="265311"/>
                </a:lnTo>
                <a:cubicBezTo>
                  <a:pt x="154075" y="261422"/>
                  <a:pt x="150908" y="252532"/>
                  <a:pt x="152686" y="244128"/>
                </a:cubicBezTo>
                <a:lnTo>
                  <a:pt x="156575" y="225931"/>
                </a:lnTo>
                <a:cubicBezTo>
                  <a:pt x="158409" y="217527"/>
                  <a:pt x="164687" y="211832"/>
                  <a:pt x="171688" y="212388"/>
                </a:cubicBezTo>
                <a:lnTo>
                  <a:pt x="194969" y="214263"/>
                </a:lnTo>
                <a:cubicBezTo>
                  <a:pt x="198469" y="208637"/>
                  <a:pt x="202525" y="203428"/>
                  <a:pt x="207137" y="198983"/>
                </a:cubicBezTo>
                <a:lnTo>
                  <a:pt x="205637" y="169952"/>
                </a:lnTo>
                <a:cubicBezTo>
                  <a:pt x="205192" y="161201"/>
                  <a:pt x="209748" y="153283"/>
                  <a:pt x="216471" y="151061"/>
                </a:cubicBezTo>
                <a:lnTo>
                  <a:pt x="231029" y="146199"/>
                </a:lnTo>
                <a:close/>
                <a:moveTo>
                  <a:pt x="249142" y="236141"/>
                </a:moveTo>
                <a:cubicBezTo>
                  <a:pt x="235649" y="236160"/>
                  <a:pt x="224707" y="249869"/>
                  <a:pt x="224723" y="266735"/>
                </a:cubicBezTo>
                <a:cubicBezTo>
                  <a:pt x="224738" y="283601"/>
                  <a:pt x="235705" y="297279"/>
                  <a:pt x="249198" y="297259"/>
                </a:cubicBezTo>
                <a:cubicBezTo>
                  <a:pt x="262691" y="297240"/>
                  <a:pt x="273633" y="283531"/>
                  <a:pt x="273618" y="266665"/>
                </a:cubicBezTo>
                <a:cubicBezTo>
                  <a:pt x="273602" y="249799"/>
                  <a:pt x="262635" y="236121"/>
                  <a:pt x="249142" y="236141"/>
                </a:cubicBezTo>
                <a:close/>
                <a:moveTo>
                  <a:pt x="124960" y="-31601"/>
                </a:moveTo>
                <a:lnTo>
                  <a:pt x="139517" y="-26739"/>
                </a:lnTo>
                <a:cubicBezTo>
                  <a:pt x="146241" y="-24448"/>
                  <a:pt x="150797" y="-16530"/>
                  <a:pt x="150352" y="-7848"/>
                </a:cubicBezTo>
                <a:lnTo>
                  <a:pt x="148852" y="21183"/>
                </a:lnTo>
                <a:cubicBezTo>
                  <a:pt x="153464" y="25628"/>
                  <a:pt x="157520" y="30768"/>
                  <a:pt x="161020" y="36463"/>
                </a:cubicBezTo>
                <a:lnTo>
                  <a:pt x="184356" y="34588"/>
                </a:lnTo>
                <a:cubicBezTo>
                  <a:pt x="191302" y="34032"/>
                  <a:pt x="197636" y="39727"/>
                  <a:pt x="199469" y="48131"/>
                </a:cubicBezTo>
                <a:lnTo>
                  <a:pt x="203359" y="66328"/>
                </a:lnTo>
                <a:cubicBezTo>
                  <a:pt x="205137" y="74732"/>
                  <a:pt x="201970" y="83622"/>
                  <a:pt x="195691" y="87511"/>
                </a:cubicBezTo>
                <a:lnTo>
                  <a:pt x="174744" y="100429"/>
                </a:lnTo>
                <a:cubicBezTo>
                  <a:pt x="174355" y="103971"/>
                  <a:pt x="173800" y="107513"/>
                  <a:pt x="173077" y="110986"/>
                </a:cubicBezTo>
                <a:cubicBezTo>
                  <a:pt x="172355" y="114459"/>
                  <a:pt x="171355" y="117931"/>
                  <a:pt x="170299" y="121196"/>
                </a:cubicBezTo>
                <a:lnTo>
                  <a:pt x="183245" y="145504"/>
                </a:lnTo>
                <a:cubicBezTo>
                  <a:pt x="187135" y="152797"/>
                  <a:pt x="186357" y="162451"/>
                  <a:pt x="181412" y="168632"/>
                </a:cubicBezTo>
                <a:lnTo>
                  <a:pt x="170744" y="181967"/>
                </a:lnTo>
                <a:cubicBezTo>
                  <a:pt x="165799" y="188149"/>
                  <a:pt x="158075" y="189121"/>
                  <a:pt x="152241" y="184259"/>
                </a:cubicBezTo>
                <a:lnTo>
                  <a:pt x="132794" y="168077"/>
                </a:lnTo>
                <a:cubicBezTo>
                  <a:pt x="127516" y="170785"/>
                  <a:pt x="121904" y="172730"/>
                  <a:pt x="116181" y="173702"/>
                </a:cubicBezTo>
                <a:lnTo>
                  <a:pt x="105847" y="199817"/>
                </a:lnTo>
                <a:cubicBezTo>
                  <a:pt x="102735" y="207665"/>
                  <a:pt x="95623" y="211624"/>
                  <a:pt x="88900" y="209401"/>
                </a:cubicBezTo>
                <a:lnTo>
                  <a:pt x="74343" y="204539"/>
                </a:lnTo>
                <a:cubicBezTo>
                  <a:pt x="67564" y="202248"/>
                  <a:pt x="63063" y="194330"/>
                  <a:pt x="63508" y="185648"/>
                </a:cubicBezTo>
                <a:lnTo>
                  <a:pt x="65008" y="156547"/>
                </a:lnTo>
                <a:cubicBezTo>
                  <a:pt x="60396" y="152102"/>
                  <a:pt x="56340" y="146963"/>
                  <a:pt x="52840" y="141268"/>
                </a:cubicBezTo>
                <a:lnTo>
                  <a:pt x="29504" y="143143"/>
                </a:lnTo>
                <a:cubicBezTo>
                  <a:pt x="22558" y="143699"/>
                  <a:pt x="16224" y="138003"/>
                  <a:pt x="14391" y="129600"/>
                </a:cubicBezTo>
                <a:lnTo>
                  <a:pt x="10501" y="111403"/>
                </a:lnTo>
                <a:cubicBezTo>
                  <a:pt x="8723" y="102999"/>
                  <a:pt x="11890" y="94109"/>
                  <a:pt x="18169" y="90220"/>
                </a:cubicBezTo>
                <a:lnTo>
                  <a:pt x="39116" y="77301"/>
                </a:lnTo>
                <a:cubicBezTo>
                  <a:pt x="39505" y="73759"/>
                  <a:pt x="40061" y="70287"/>
                  <a:pt x="40783" y="66744"/>
                </a:cubicBezTo>
                <a:cubicBezTo>
                  <a:pt x="41561" y="63202"/>
                  <a:pt x="42450" y="59799"/>
                  <a:pt x="43561" y="56535"/>
                </a:cubicBezTo>
                <a:lnTo>
                  <a:pt x="30615" y="32296"/>
                </a:lnTo>
                <a:cubicBezTo>
                  <a:pt x="26726" y="25003"/>
                  <a:pt x="27503" y="15349"/>
                  <a:pt x="32448" y="9168"/>
                </a:cubicBezTo>
                <a:lnTo>
                  <a:pt x="43116" y="-4167"/>
                </a:lnTo>
                <a:cubicBezTo>
                  <a:pt x="48062" y="-10349"/>
                  <a:pt x="55785" y="-11321"/>
                  <a:pt x="61619" y="-6459"/>
                </a:cubicBezTo>
                <a:lnTo>
                  <a:pt x="81066" y="9723"/>
                </a:lnTo>
                <a:cubicBezTo>
                  <a:pt x="86344" y="7015"/>
                  <a:pt x="91956" y="5070"/>
                  <a:pt x="97679" y="4098"/>
                </a:cubicBezTo>
                <a:lnTo>
                  <a:pt x="108013" y="-22017"/>
                </a:lnTo>
                <a:cubicBezTo>
                  <a:pt x="111125" y="-29865"/>
                  <a:pt x="118181" y="-33824"/>
                  <a:pt x="124960" y="-31601"/>
                </a:cubicBezTo>
                <a:close/>
                <a:moveTo>
                  <a:pt x="106902" y="58341"/>
                </a:moveTo>
                <a:cubicBezTo>
                  <a:pt x="93409" y="58341"/>
                  <a:pt x="82455" y="72034"/>
                  <a:pt x="82455" y="88900"/>
                </a:cubicBezTo>
                <a:cubicBezTo>
                  <a:pt x="82455" y="105766"/>
                  <a:pt x="93409" y="119459"/>
                  <a:pt x="106902" y="119459"/>
                </a:cubicBezTo>
                <a:cubicBezTo>
                  <a:pt x="120395" y="119459"/>
                  <a:pt x="131350" y="105766"/>
                  <a:pt x="131350" y="88900"/>
                </a:cubicBezTo>
                <a:cubicBezTo>
                  <a:pt x="131350" y="72034"/>
                  <a:pt x="120395" y="58341"/>
                  <a:pt x="106902" y="58341"/>
                </a:cubicBez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23" name="Text 21"/>
          <p:cNvSpPr/>
          <p:nvPr/>
        </p:nvSpPr>
        <p:spPr>
          <a:xfrm>
            <a:off x="4762500" y="67056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762500" y="71120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Logique métier : calculs, validations métier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55000" y="5969000"/>
            <a:ext cx="3429000" cy="2222500"/>
          </a:xfrm>
          <a:prstGeom prst="roundRect">
            <a:avLst>
              <a:gd name="adj" fmla="val 8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76200" dist="38100" dir="5400000">
              <a:srgbClr val="000000">
                <a:alpha val="8235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09000" y="622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142935"/>
                </a:moveTo>
                <a:cubicBezTo>
                  <a:pt x="343853" y="149741"/>
                  <a:pt x="330359" y="155228"/>
                  <a:pt x="316309" y="159603"/>
                </a:cubicBezTo>
                <a:cubicBezTo>
                  <a:pt x="279003" y="171271"/>
                  <a:pt x="230029" y="177800"/>
                  <a:pt x="177800" y="177800"/>
                </a:cubicBezTo>
                <a:cubicBezTo>
                  <a:pt x="125571" y="177800"/>
                  <a:pt x="76518" y="171202"/>
                  <a:pt x="39291" y="159603"/>
                </a:cubicBezTo>
                <a:cubicBezTo>
                  <a:pt x="25321" y="155228"/>
                  <a:pt x="11747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79613" y="255587"/>
                  <a:pt x="177800" y="255587"/>
                </a:cubicBezTo>
                <a:cubicBezTo>
                  <a:pt x="275987" y="255587"/>
                  <a:pt x="355600" y="230723"/>
                  <a:pt x="355600" y="200025"/>
                </a:cubicBezTo>
                <a:lnTo>
                  <a:pt x="355600" y="142935"/>
                </a:lnTo>
                <a:close/>
                <a:moveTo>
                  <a:pt x="355600" y="88900"/>
                </a:moveTo>
                <a:lnTo>
                  <a:pt x="355600" y="55563"/>
                </a:lnTo>
                <a:cubicBezTo>
                  <a:pt x="355600" y="24864"/>
                  <a:pt x="275987" y="0"/>
                  <a:pt x="177800" y="0"/>
                </a:cubicBezTo>
                <a:cubicBezTo>
                  <a:pt x="79613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79613" y="144463"/>
                  <a:pt x="177800" y="144463"/>
                </a:cubicBezTo>
                <a:cubicBezTo>
                  <a:pt x="275987" y="144463"/>
                  <a:pt x="355600" y="119598"/>
                  <a:pt x="355600" y="88900"/>
                </a:cubicBezTo>
                <a:close/>
                <a:moveTo>
                  <a:pt x="316309" y="270728"/>
                </a:moveTo>
                <a:cubicBezTo>
                  <a:pt x="279083" y="282327"/>
                  <a:pt x="230108" y="288925"/>
                  <a:pt x="177800" y="288925"/>
                </a:cubicBezTo>
                <a:cubicBezTo>
                  <a:pt x="125492" y="288925"/>
                  <a:pt x="76518" y="282327"/>
                  <a:pt x="39291" y="270728"/>
                </a:cubicBezTo>
                <a:cubicBezTo>
                  <a:pt x="25321" y="266353"/>
                  <a:pt x="11747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79613" y="355600"/>
                  <a:pt x="177800" y="355600"/>
                </a:cubicBezTo>
                <a:cubicBezTo>
                  <a:pt x="275987" y="355600"/>
                  <a:pt x="355600" y="330736"/>
                  <a:pt x="355600" y="300038"/>
                </a:cubicBezTo>
                <a:lnTo>
                  <a:pt x="355600" y="254060"/>
                </a:lnTo>
                <a:cubicBezTo>
                  <a:pt x="343853" y="260866"/>
                  <a:pt x="330359" y="266353"/>
                  <a:pt x="316309" y="270728"/>
                </a:cubicBez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27" name="Text 25"/>
          <p:cNvSpPr/>
          <p:nvPr/>
        </p:nvSpPr>
        <p:spPr>
          <a:xfrm>
            <a:off x="8509000" y="67056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Repository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509000" y="7112000"/>
            <a:ext cx="292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Accès aux données : JSON, base de données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2001500" y="5969000"/>
            <a:ext cx="3492500" cy="2222500"/>
          </a:xfrm>
          <a:prstGeom prst="roundRect">
            <a:avLst>
              <a:gd name="adj" fmla="val 8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76200" dist="38100" dir="5400000">
              <a:srgbClr val="000000">
                <a:alpha val="8235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2255500" y="622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1418" y="46395"/>
                </a:moveTo>
                <a:cubicBezTo>
                  <a:pt x="241049" y="36463"/>
                  <a:pt x="238085" y="22572"/>
                  <a:pt x="224843" y="15349"/>
                </a:cubicBezTo>
                <a:cubicBezTo>
                  <a:pt x="211601" y="8126"/>
                  <a:pt x="193080" y="10349"/>
                  <a:pt x="183449" y="20280"/>
                </a:cubicBezTo>
                <a:lnTo>
                  <a:pt x="85288" y="121474"/>
                </a:lnTo>
                <a:lnTo>
                  <a:pt x="50562" y="95429"/>
                </a:lnTo>
                <a:cubicBezTo>
                  <a:pt x="38986" y="86747"/>
                  <a:pt x="20188" y="86747"/>
                  <a:pt x="8612" y="95429"/>
                </a:cubicBezTo>
                <a:cubicBezTo>
                  <a:pt x="-2963" y="104110"/>
                  <a:pt x="-2963" y="118209"/>
                  <a:pt x="8612" y="126891"/>
                </a:cubicBezTo>
                <a:lnTo>
                  <a:pt x="67879" y="171341"/>
                </a:lnTo>
                <a:cubicBezTo>
                  <a:pt x="73991" y="175925"/>
                  <a:pt x="82510" y="178286"/>
                  <a:pt x="91123" y="177800"/>
                </a:cubicBezTo>
                <a:cubicBezTo>
                  <a:pt x="99735" y="177314"/>
                  <a:pt x="107699" y="173980"/>
                  <a:pt x="112792" y="168702"/>
                </a:cubicBezTo>
                <a:lnTo>
                  <a:pt x="231325" y="46464"/>
                </a:lnTo>
                <a:close/>
                <a:moveTo>
                  <a:pt x="349951" y="140851"/>
                </a:moveTo>
                <a:cubicBezTo>
                  <a:pt x="359582" y="130919"/>
                  <a:pt x="356619" y="117029"/>
                  <a:pt x="343376" y="109805"/>
                </a:cubicBezTo>
                <a:cubicBezTo>
                  <a:pt x="330134" y="102582"/>
                  <a:pt x="311613" y="104805"/>
                  <a:pt x="301982" y="114737"/>
                </a:cubicBezTo>
                <a:lnTo>
                  <a:pt x="144555" y="277049"/>
                </a:lnTo>
                <a:lnTo>
                  <a:pt x="80195" y="228779"/>
                </a:lnTo>
                <a:cubicBezTo>
                  <a:pt x="68620" y="220097"/>
                  <a:pt x="49821" y="220097"/>
                  <a:pt x="38246" y="228779"/>
                </a:cubicBezTo>
                <a:cubicBezTo>
                  <a:pt x="26670" y="237460"/>
                  <a:pt x="26670" y="251559"/>
                  <a:pt x="38246" y="260241"/>
                </a:cubicBezTo>
                <a:lnTo>
                  <a:pt x="127146" y="326916"/>
                </a:lnTo>
                <a:cubicBezTo>
                  <a:pt x="133257" y="331500"/>
                  <a:pt x="141777" y="333861"/>
                  <a:pt x="150389" y="333375"/>
                </a:cubicBezTo>
                <a:cubicBezTo>
                  <a:pt x="159001" y="332889"/>
                  <a:pt x="166965" y="329555"/>
                  <a:pt x="172059" y="324277"/>
                </a:cubicBezTo>
                <a:lnTo>
                  <a:pt x="349859" y="140920"/>
                </a:ln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31" name="Text 29"/>
          <p:cNvSpPr/>
          <p:nvPr/>
        </p:nvSpPr>
        <p:spPr>
          <a:xfrm>
            <a:off x="12255500" y="6705600"/>
            <a:ext cx="29845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700" b="1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Validator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2255500" y="7112000"/>
            <a:ext cx="2984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Règles de validation centralisées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2000" y="86995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100" kern="0" dirty="0">
                <a:solidFill>
                  <a:srgbClr val="8B7D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AMÉLIORATIONS APPORTÉES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4859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plus maintenable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98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6000" y="1625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1939" y="7461"/>
                </a:moveTo>
                <a:cubicBezTo>
                  <a:pt x="262017" y="-2461"/>
                  <a:pt x="245904" y="-2461"/>
                  <a:pt x="235982" y="7461"/>
                </a:cubicBezTo>
                <a:cubicBezTo>
                  <a:pt x="226060" y="17383"/>
                  <a:pt x="226060" y="33496"/>
                  <a:pt x="235982" y="43418"/>
                </a:cubicBezTo>
                <a:lnTo>
                  <a:pt x="243443" y="50800"/>
                </a:lnTo>
                <a:lnTo>
                  <a:pt x="22304" y="271939"/>
                </a:lnTo>
                <a:cubicBezTo>
                  <a:pt x="8017" y="286226"/>
                  <a:pt x="0" y="305594"/>
                  <a:pt x="0" y="325834"/>
                </a:cubicBezTo>
                <a:lnTo>
                  <a:pt x="0" y="330200"/>
                </a:lnTo>
                <a:cubicBezTo>
                  <a:pt x="0" y="372269"/>
                  <a:pt x="34131" y="406400"/>
                  <a:pt x="76200" y="406400"/>
                </a:cubicBezTo>
                <a:lnTo>
                  <a:pt x="80566" y="406400"/>
                </a:lnTo>
                <a:cubicBezTo>
                  <a:pt x="100806" y="406400"/>
                  <a:pt x="120174" y="398383"/>
                  <a:pt x="134461" y="384096"/>
                </a:cubicBezTo>
                <a:lnTo>
                  <a:pt x="355600" y="162957"/>
                </a:lnTo>
                <a:lnTo>
                  <a:pt x="363061" y="170418"/>
                </a:lnTo>
                <a:cubicBezTo>
                  <a:pt x="372983" y="180340"/>
                  <a:pt x="389096" y="180340"/>
                  <a:pt x="399018" y="170418"/>
                </a:cubicBezTo>
                <a:cubicBezTo>
                  <a:pt x="408940" y="160496"/>
                  <a:pt x="408940" y="144383"/>
                  <a:pt x="399018" y="134461"/>
                </a:cubicBezTo>
                <a:lnTo>
                  <a:pt x="272018" y="7461"/>
                </a:lnTo>
                <a:close/>
                <a:moveTo>
                  <a:pt x="162957" y="203200"/>
                </a:moveTo>
                <a:lnTo>
                  <a:pt x="279400" y="86757"/>
                </a:lnTo>
                <a:lnTo>
                  <a:pt x="319643" y="127000"/>
                </a:lnTo>
                <a:lnTo>
                  <a:pt x="243443" y="203200"/>
                </a:lnTo>
                <a:lnTo>
                  <a:pt x="162877" y="203200"/>
                </a:ln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1844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Tests unitaires facilités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16000" y="26162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en couches permettant de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tester chaque composant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indépendamment.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3970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98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2500" y="1625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7800" y="0"/>
                </a:moveTo>
                <a:cubicBezTo>
                  <a:pt x="205819" y="0"/>
                  <a:pt x="228600" y="17066"/>
                  <a:pt x="228600" y="38100"/>
                </a:cubicBezTo>
                <a:cubicBezTo>
                  <a:pt x="228600" y="46355"/>
                  <a:pt x="225108" y="53975"/>
                  <a:pt x="219075" y="60246"/>
                </a:cubicBezTo>
                <a:cubicBezTo>
                  <a:pt x="213836" y="65723"/>
                  <a:pt x="209550" y="72390"/>
                  <a:pt x="209550" y="80010"/>
                </a:cubicBezTo>
                <a:cubicBezTo>
                  <a:pt x="209550" y="91916"/>
                  <a:pt x="219234" y="101600"/>
                  <a:pt x="231140" y="101600"/>
                </a:cubicBezTo>
                <a:lnTo>
                  <a:pt x="266700" y="101600"/>
                </a:lnTo>
                <a:cubicBezTo>
                  <a:pt x="287734" y="101600"/>
                  <a:pt x="304800" y="118666"/>
                  <a:pt x="304800" y="139700"/>
                </a:cubicBezTo>
                <a:lnTo>
                  <a:pt x="304800" y="175260"/>
                </a:lnTo>
                <a:cubicBezTo>
                  <a:pt x="304800" y="187166"/>
                  <a:pt x="314484" y="196850"/>
                  <a:pt x="326390" y="196850"/>
                </a:cubicBezTo>
                <a:cubicBezTo>
                  <a:pt x="333931" y="196850"/>
                  <a:pt x="340678" y="192564"/>
                  <a:pt x="346154" y="187325"/>
                </a:cubicBezTo>
                <a:cubicBezTo>
                  <a:pt x="352425" y="181372"/>
                  <a:pt x="360045" y="177800"/>
                  <a:pt x="368300" y="177800"/>
                </a:cubicBezTo>
                <a:cubicBezTo>
                  <a:pt x="389334" y="177800"/>
                  <a:pt x="406400" y="200581"/>
                  <a:pt x="406400" y="228600"/>
                </a:cubicBezTo>
                <a:cubicBezTo>
                  <a:pt x="406400" y="256619"/>
                  <a:pt x="389334" y="279400"/>
                  <a:pt x="368300" y="279400"/>
                </a:cubicBezTo>
                <a:cubicBezTo>
                  <a:pt x="360045" y="279400"/>
                  <a:pt x="352346" y="275908"/>
                  <a:pt x="346154" y="269875"/>
                </a:cubicBezTo>
                <a:cubicBezTo>
                  <a:pt x="340678" y="264636"/>
                  <a:pt x="334010" y="260350"/>
                  <a:pt x="326390" y="260350"/>
                </a:cubicBezTo>
                <a:cubicBezTo>
                  <a:pt x="314484" y="260350"/>
                  <a:pt x="304800" y="270034"/>
                  <a:pt x="304800" y="281940"/>
                </a:cubicBezTo>
                <a:lnTo>
                  <a:pt x="304800" y="368300"/>
                </a:lnTo>
                <a:cubicBezTo>
                  <a:pt x="304800" y="389334"/>
                  <a:pt x="287734" y="406400"/>
                  <a:pt x="266700" y="406400"/>
                </a:cubicBezTo>
                <a:lnTo>
                  <a:pt x="221615" y="406400"/>
                </a:lnTo>
                <a:cubicBezTo>
                  <a:pt x="211455" y="406400"/>
                  <a:pt x="203200" y="398145"/>
                  <a:pt x="203200" y="387985"/>
                </a:cubicBezTo>
                <a:cubicBezTo>
                  <a:pt x="203200" y="380683"/>
                  <a:pt x="207804" y="374253"/>
                  <a:pt x="213678" y="369888"/>
                </a:cubicBezTo>
                <a:cubicBezTo>
                  <a:pt x="222885" y="362982"/>
                  <a:pt x="228600" y="353457"/>
                  <a:pt x="228600" y="342900"/>
                </a:cubicBezTo>
                <a:cubicBezTo>
                  <a:pt x="228600" y="321866"/>
                  <a:pt x="205819" y="304800"/>
                  <a:pt x="177800" y="304800"/>
                </a:cubicBezTo>
                <a:cubicBezTo>
                  <a:pt x="149781" y="304800"/>
                  <a:pt x="127000" y="321866"/>
                  <a:pt x="127000" y="342900"/>
                </a:cubicBezTo>
                <a:cubicBezTo>
                  <a:pt x="127000" y="353457"/>
                  <a:pt x="132715" y="362982"/>
                  <a:pt x="141923" y="369888"/>
                </a:cubicBezTo>
                <a:cubicBezTo>
                  <a:pt x="147796" y="374253"/>
                  <a:pt x="152400" y="380603"/>
                  <a:pt x="152400" y="387985"/>
                </a:cubicBezTo>
                <a:cubicBezTo>
                  <a:pt x="152400" y="398145"/>
                  <a:pt x="144145" y="406400"/>
                  <a:pt x="133985" y="406400"/>
                </a:cubicBezTo>
                <a:lnTo>
                  <a:pt x="38100" y="406400"/>
                </a:lnTo>
                <a:cubicBezTo>
                  <a:pt x="17066" y="406400"/>
                  <a:pt x="0" y="389334"/>
                  <a:pt x="0" y="368300"/>
                </a:cubicBezTo>
                <a:lnTo>
                  <a:pt x="0" y="272415"/>
                </a:lnTo>
                <a:cubicBezTo>
                  <a:pt x="0" y="262255"/>
                  <a:pt x="8255" y="254000"/>
                  <a:pt x="18415" y="254000"/>
                </a:cubicBezTo>
                <a:cubicBezTo>
                  <a:pt x="25717" y="254000"/>
                  <a:pt x="32147" y="258604"/>
                  <a:pt x="36513" y="264478"/>
                </a:cubicBezTo>
                <a:cubicBezTo>
                  <a:pt x="43418" y="273685"/>
                  <a:pt x="52943" y="279400"/>
                  <a:pt x="63500" y="279400"/>
                </a:cubicBezTo>
                <a:cubicBezTo>
                  <a:pt x="84534" y="279400"/>
                  <a:pt x="101600" y="256619"/>
                  <a:pt x="101600" y="228600"/>
                </a:cubicBezTo>
                <a:cubicBezTo>
                  <a:pt x="101600" y="200581"/>
                  <a:pt x="84534" y="177800"/>
                  <a:pt x="63500" y="177800"/>
                </a:cubicBezTo>
                <a:cubicBezTo>
                  <a:pt x="52943" y="177800"/>
                  <a:pt x="43418" y="183515"/>
                  <a:pt x="36513" y="192723"/>
                </a:cubicBezTo>
                <a:cubicBezTo>
                  <a:pt x="32147" y="198596"/>
                  <a:pt x="25797" y="203200"/>
                  <a:pt x="18415" y="203200"/>
                </a:cubicBezTo>
                <a:cubicBezTo>
                  <a:pt x="8255" y="203200"/>
                  <a:pt x="0" y="194945"/>
                  <a:pt x="0" y="184785"/>
                </a:cubicBezTo>
                <a:lnTo>
                  <a:pt x="0" y="139700"/>
                </a:lnTo>
                <a:cubicBezTo>
                  <a:pt x="0" y="118666"/>
                  <a:pt x="17066" y="101600"/>
                  <a:pt x="38100" y="101600"/>
                </a:cubicBezTo>
                <a:lnTo>
                  <a:pt x="124460" y="101600"/>
                </a:lnTo>
                <a:cubicBezTo>
                  <a:pt x="136366" y="101600"/>
                  <a:pt x="146050" y="91916"/>
                  <a:pt x="146050" y="80010"/>
                </a:cubicBezTo>
                <a:cubicBezTo>
                  <a:pt x="146050" y="72469"/>
                  <a:pt x="141764" y="65723"/>
                  <a:pt x="136525" y="60246"/>
                </a:cubicBezTo>
                <a:cubicBezTo>
                  <a:pt x="130572" y="53975"/>
                  <a:pt x="127000" y="46355"/>
                  <a:pt x="127000" y="38100"/>
                </a:cubicBezTo>
                <a:cubicBezTo>
                  <a:pt x="127000" y="17066"/>
                  <a:pt x="149781" y="0"/>
                  <a:pt x="177800" y="0"/>
                </a:cubicBez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11" name="Text 9"/>
          <p:cNvSpPr/>
          <p:nvPr/>
        </p:nvSpPr>
        <p:spPr>
          <a:xfrm>
            <a:off x="6032500" y="21844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Modularité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32500" y="26162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Chaque couche peut être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modifiée indépendamment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sans impacter les autres.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3970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98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049000" y="1625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20888" y="47625"/>
                </a:moveTo>
                <a:cubicBezTo>
                  <a:pt x="157559" y="-15875"/>
                  <a:pt x="249237" y="-15875"/>
                  <a:pt x="285909" y="47625"/>
                </a:cubicBezTo>
                <a:lnTo>
                  <a:pt x="315516" y="98901"/>
                </a:lnTo>
                <a:lnTo>
                  <a:pt x="337502" y="86201"/>
                </a:lnTo>
                <a:cubicBezTo>
                  <a:pt x="344170" y="82312"/>
                  <a:pt x="352504" y="82868"/>
                  <a:pt x="358616" y="87551"/>
                </a:cubicBezTo>
                <a:cubicBezTo>
                  <a:pt x="364728" y="92234"/>
                  <a:pt x="367427" y="100171"/>
                  <a:pt x="365443" y="107633"/>
                </a:cubicBezTo>
                <a:lnTo>
                  <a:pt x="346789" y="177006"/>
                </a:lnTo>
                <a:cubicBezTo>
                  <a:pt x="344091" y="187166"/>
                  <a:pt x="333613" y="193199"/>
                  <a:pt x="323453" y="190500"/>
                </a:cubicBezTo>
                <a:lnTo>
                  <a:pt x="254079" y="171926"/>
                </a:lnTo>
                <a:cubicBezTo>
                  <a:pt x="246618" y="169942"/>
                  <a:pt x="241141" y="163671"/>
                  <a:pt x="240109" y="156051"/>
                </a:cubicBezTo>
                <a:cubicBezTo>
                  <a:pt x="239078" y="148431"/>
                  <a:pt x="242808" y="140891"/>
                  <a:pt x="249476" y="137081"/>
                </a:cubicBezTo>
                <a:lnTo>
                  <a:pt x="271463" y="124381"/>
                </a:lnTo>
                <a:lnTo>
                  <a:pt x="241856" y="73104"/>
                </a:lnTo>
                <a:cubicBezTo>
                  <a:pt x="224711" y="43498"/>
                  <a:pt x="182007" y="43498"/>
                  <a:pt x="164862" y="73104"/>
                </a:cubicBezTo>
                <a:lnTo>
                  <a:pt x="160655" y="80328"/>
                </a:lnTo>
                <a:cubicBezTo>
                  <a:pt x="153670" y="92472"/>
                  <a:pt x="138112" y="96599"/>
                  <a:pt x="125968" y="89614"/>
                </a:cubicBezTo>
                <a:cubicBezTo>
                  <a:pt x="113824" y="82629"/>
                  <a:pt x="109696" y="67072"/>
                  <a:pt x="116681" y="54848"/>
                </a:cubicBezTo>
                <a:lnTo>
                  <a:pt x="120888" y="47625"/>
                </a:lnTo>
                <a:close/>
                <a:moveTo>
                  <a:pt x="356949" y="221536"/>
                </a:moveTo>
                <a:cubicBezTo>
                  <a:pt x="369094" y="214551"/>
                  <a:pt x="384651" y="218678"/>
                  <a:pt x="391636" y="230823"/>
                </a:cubicBezTo>
                <a:lnTo>
                  <a:pt x="395843" y="238046"/>
                </a:lnTo>
                <a:cubicBezTo>
                  <a:pt x="432514" y="301546"/>
                  <a:pt x="386715" y="380921"/>
                  <a:pt x="313372" y="380921"/>
                </a:cubicBezTo>
                <a:lnTo>
                  <a:pt x="254159" y="380921"/>
                </a:lnTo>
                <a:lnTo>
                  <a:pt x="254159" y="406321"/>
                </a:lnTo>
                <a:cubicBezTo>
                  <a:pt x="254159" y="414020"/>
                  <a:pt x="249555" y="421005"/>
                  <a:pt x="242411" y="423942"/>
                </a:cubicBezTo>
                <a:cubicBezTo>
                  <a:pt x="235267" y="426879"/>
                  <a:pt x="227092" y="425291"/>
                  <a:pt x="221615" y="419814"/>
                </a:cubicBezTo>
                <a:lnTo>
                  <a:pt x="170815" y="369014"/>
                </a:lnTo>
                <a:cubicBezTo>
                  <a:pt x="163354" y="361553"/>
                  <a:pt x="163354" y="349488"/>
                  <a:pt x="170815" y="342106"/>
                </a:cubicBezTo>
                <a:lnTo>
                  <a:pt x="221615" y="291306"/>
                </a:lnTo>
                <a:cubicBezTo>
                  <a:pt x="227092" y="285829"/>
                  <a:pt x="235267" y="284242"/>
                  <a:pt x="242411" y="287179"/>
                </a:cubicBezTo>
                <a:cubicBezTo>
                  <a:pt x="249555" y="290116"/>
                  <a:pt x="254159" y="297101"/>
                  <a:pt x="254159" y="304800"/>
                </a:cubicBezTo>
                <a:lnTo>
                  <a:pt x="254159" y="330200"/>
                </a:lnTo>
                <a:lnTo>
                  <a:pt x="313372" y="330200"/>
                </a:lnTo>
                <a:cubicBezTo>
                  <a:pt x="347583" y="330200"/>
                  <a:pt x="369014" y="293132"/>
                  <a:pt x="351869" y="263525"/>
                </a:cubicBezTo>
                <a:lnTo>
                  <a:pt x="347662" y="256302"/>
                </a:lnTo>
                <a:cubicBezTo>
                  <a:pt x="340677" y="244158"/>
                  <a:pt x="344805" y="228600"/>
                  <a:pt x="356949" y="221615"/>
                </a:cubicBezTo>
                <a:close/>
                <a:moveTo>
                  <a:pt x="40481" y="186849"/>
                </a:moveTo>
                <a:lnTo>
                  <a:pt x="18494" y="174149"/>
                </a:lnTo>
                <a:cubicBezTo>
                  <a:pt x="11827" y="170259"/>
                  <a:pt x="8096" y="162798"/>
                  <a:pt x="9128" y="155178"/>
                </a:cubicBezTo>
                <a:cubicBezTo>
                  <a:pt x="10160" y="147558"/>
                  <a:pt x="15637" y="141288"/>
                  <a:pt x="23098" y="139303"/>
                </a:cubicBezTo>
                <a:lnTo>
                  <a:pt x="92472" y="120650"/>
                </a:lnTo>
                <a:cubicBezTo>
                  <a:pt x="102632" y="117951"/>
                  <a:pt x="113109" y="123984"/>
                  <a:pt x="115808" y="134144"/>
                </a:cubicBezTo>
                <a:lnTo>
                  <a:pt x="134382" y="203518"/>
                </a:lnTo>
                <a:cubicBezTo>
                  <a:pt x="136366" y="210979"/>
                  <a:pt x="133668" y="218837"/>
                  <a:pt x="127556" y="223599"/>
                </a:cubicBezTo>
                <a:cubicBezTo>
                  <a:pt x="121444" y="228362"/>
                  <a:pt x="113109" y="228838"/>
                  <a:pt x="106442" y="224949"/>
                </a:cubicBezTo>
                <a:lnTo>
                  <a:pt x="84455" y="212249"/>
                </a:lnTo>
                <a:lnTo>
                  <a:pt x="54848" y="263525"/>
                </a:lnTo>
                <a:cubicBezTo>
                  <a:pt x="37703" y="293132"/>
                  <a:pt x="59134" y="330200"/>
                  <a:pt x="93345" y="330200"/>
                </a:cubicBezTo>
                <a:lnTo>
                  <a:pt x="101759" y="330200"/>
                </a:lnTo>
                <a:cubicBezTo>
                  <a:pt x="115808" y="330200"/>
                  <a:pt x="127159" y="341551"/>
                  <a:pt x="127159" y="355600"/>
                </a:cubicBezTo>
                <a:cubicBezTo>
                  <a:pt x="127159" y="369649"/>
                  <a:pt x="115808" y="381000"/>
                  <a:pt x="101759" y="381000"/>
                </a:cubicBezTo>
                <a:lnTo>
                  <a:pt x="93345" y="381000"/>
                </a:lnTo>
                <a:cubicBezTo>
                  <a:pt x="20082" y="381000"/>
                  <a:pt x="-25717" y="301625"/>
                  <a:pt x="10954" y="238125"/>
                </a:cubicBezTo>
                <a:lnTo>
                  <a:pt x="40481" y="186849"/>
                </a:ln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049000" y="21844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Réutilisation du code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049000" y="26162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Réutilisation entre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différentes parties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l'application sans duplication.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0005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98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16000" y="4229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20650"/>
                </a:moveTo>
                <a:cubicBezTo>
                  <a:pt x="241751" y="120650"/>
                  <a:pt x="273050" y="89351"/>
                  <a:pt x="273050" y="50800"/>
                </a:cubicBezTo>
                <a:cubicBezTo>
                  <a:pt x="273050" y="12249"/>
                  <a:pt x="241751" y="-19050"/>
                  <a:pt x="203200" y="-19050"/>
                </a:cubicBezTo>
                <a:cubicBezTo>
                  <a:pt x="164649" y="-19050"/>
                  <a:pt x="133350" y="12249"/>
                  <a:pt x="133350" y="50800"/>
                </a:cubicBezTo>
                <a:cubicBezTo>
                  <a:pt x="133350" y="89351"/>
                  <a:pt x="164649" y="120650"/>
                  <a:pt x="203200" y="120650"/>
                </a:cubicBezTo>
                <a:close/>
                <a:moveTo>
                  <a:pt x="203200" y="357743"/>
                </a:moveTo>
                <a:lnTo>
                  <a:pt x="203200" y="239236"/>
                </a:lnTo>
                <a:cubicBezTo>
                  <a:pt x="216138" y="233839"/>
                  <a:pt x="229314" y="228362"/>
                  <a:pt x="242649" y="222806"/>
                </a:cubicBezTo>
                <a:cubicBezTo>
                  <a:pt x="273606" y="209947"/>
                  <a:pt x="306784" y="203279"/>
                  <a:pt x="340360" y="203279"/>
                </a:cubicBezTo>
                <a:lnTo>
                  <a:pt x="355600" y="203279"/>
                </a:lnTo>
                <a:lnTo>
                  <a:pt x="355600" y="330279"/>
                </a:lnTo>
                <a:lnTo>
                  <a:pt x="340360" y="330279"/>
                </a:lnTo>
                <a:cubicBezTo>
                  <a:pt x="293449" y="330279"/>
                  <a:pt x="246936" y="339566"/>
                  <a:pt x="203597" y="357664"/>
                </a:cubicBezTo>
                <a:lnTo>
                  <a:pt x="203200" y="357822"/>
                </a:lnTo>
                <a:close/>
                <a:moveTo>
                  <a:pt x="203200" y="184150"/>
                </a:moveTo>
                <a:lnTo>
                  <a:pt x="183277" y="175816"/>
                </a:lnTo>
                <a:cubicBezTo>
                  <a:pt x="146129" y="160338"/>
                  <a:pt x="106283" y="152400"/>
                  <a:pt x="66040" y="152400"/>
                </a:cubicBezTo>
                <a:lnTo>
                  <a:pt x="38100" y="152400"/>
                </a:lnTo>
                <a:cubicBezTo>
                  <a:pt x="17066" y="152400"/>
                  <a:pt x="0" y="169466"/>
                  <a:pt x="0" y="190500"/>
                </a:cubicBezTo>
                <a:lnTo>
                  <a:pt x="0" y="342900"/>
                </a:lnTo>
                <a:cubicBezTo>
                  <a:pt x="0" y="363934"/>
                  <a:pt x="17066" y="381000"/>
                  <a:pt x="38100" y="381000"/>
                </a:cubicBezTo>
                <a:lnTo>
                  <a:pt x="66040" y="381000"/>
                </a:lnTo>
                <a:cubicBezTo>
                  <a:pt x="106283" y="381000"/>
                  <a:pt x="146129" y="388938"/>
                  <a:pt x="183277" y="404416"/>
                </a:cubicBezTo>
                <a:lnTo>
                  <a:pt x="193437" y="408622"/>
                </a:lnTo>
                <a:cubicBezTo>
                  <a:pt x="199708" y="411242"/>
                  <a:pt x="206692" y="411242"/>
                  <a:pt x="212963" y="408622"/>
                </a:cubicBezTo>
                <a:lnTo>
                  <a:pt x="223123" y="404416"/>
                </a:lnTo>
                <a:cubicBezTo>
                  <a:pt x="260271" y="388937"/>
                  <a:pt x="300117" y="381000"/>
                  <a:pt x="340360" y="381000"/>
                </a:cubicBezTo>
                <a:lnTo>
                  <a:pt x="368300" y="381000"/>
                </a:lnTo>
                <a:cubicBezTo>
                  <a:pt x="389334" y="381000"/>
                  <a:pt x="406400" y="363934"/>
                  <a:pt x="406400" y="342900"/>
                </a:cubicBezTo>
                <a:lnTo>
                  <a:pt x="406400" y="190500"/>
                </a:lnTo>
                <a:cubicBezTo>
                  <a:pt x="406400" y="169466"/>
                  <a:pt x="389334" y="152400"/>
                  <a:pt x="368300" y="152400"/>
                </a:cubicBezTo>
                <a:lnTo>
                  <a:pt x="340360" y="152400"/>
                </a:lnTo>
                <a:cubicBezTo>
                  <a:pt x="300117" y="152400"/>
                  <a:pt x="260271" y="160337"/>
                  <a:pt x="223123" y="175816"/>
                </a:cubicBezTo>
                <a:lnTo>
                  <a:pt x="203200" y="184150"/>
                </a:ln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47879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Lisibilité améliorée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16000" y="52197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 nouveau développeur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comprend rapidement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l'architecture du projet.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8500" y="40005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98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2500" y="4229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7118" y="13811"/>
                </a:moveTo>
                <a:cubicBezTo>
                  <a:pt x="213889" y="3889"/>
                  <a:pt x="192405" y="3889"/>
                  <a:pt x="179176" y="13811"/>
                </a:cubicBezTo>
                <a:lnTo>
                  <a:pt x="9843" y="140811"/>
                </a:lnTo>
                <a:cubicBezTo>
                  <a:pt x="-3387" y="150733"/>
                  <a:pt x="-3387" y="166846"/>
                  <a:pt x="9843" y="176768"/>
                </a:cubicBezTo>
                <a:cubicBezTo>
                  <a:pt x="23072" y="186690"/>
                  <a:pt x="44556" y="186690"/>
                  <a:pt x="57785" y="176768"/>
                </a:cubicBezTo>
                <a:lnTo>
                  <a:pt x="169333" y="93107"/>
                </a:lnTo>
                <a:lnTo>
                  <a:pt x="169333" y="387350"/>
                </a:lnTo>
                <a:cubicBezTo>
                  <a:pt x="169333" y="401399"/>
                  <a:pt x="184468" y="412750"/>
                  <a:pt x="203200" y="412750"/>
                </a:cubicBezTo>
                <a:cubicBezTo>
                  <a:pt x="221932" y="412750"/>
                  <a:pt x="237067" y="401399"/>
                  <a:pt x="237067" y="387350"/>
                </a:cubicBezTo>
                <a:lnTo>
                  <a:pt x="237067" y="93107"/>
                </a:lnTo>
                <a:lnTo>
                  <a:pt x="348615" y="176768"/>
                </a:lnTo>
                <a:cubicBezTo>
                  <a:pt x="361844" y="186690"/>
                  <a:pt x="383328" y="186690"/>
                  <a:pt x="396557" y="176768"/>
                </a:cubicBezTo>
                <a:cubicBezTo>
                  <a:pt x="409787" y="166846"/>
                  <a:pt x="409787" y="150733"/>
                  <a:pt x="396557" y="140811"/>
                </a:cubicBezTo>
                <a:lnTo>
                  <a:pt x="227224" y="13811"/>
                </a:ln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23" name="Text 21"/>
          <p:cNvSpPr/>
          <p:nvPr/>
        </p:nvSpPr>
        <p:spPr>
          <a:xfrm>
            <a:off x="6032500" y="47879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Prêt pour l'évolution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032500" y="52197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Passage facile vers une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 de données SQL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 NoSQL.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95000" y="40005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98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1049000" y="4229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254000"/>
                </a:moveTo>
                <a:lnTo>
                  <a:pt x="19447" y="254000"/>
                </a:lnTo>
                <a:cubicBezTo>
                  <a:pt x="-317" y="254000"/>
                  <a:pt x="-12462" y="232489"/>
                  <a:pt x="-2302" y="215503"/>
                </a:cubicBezTo>
                <a:lnTo>
                  <a:pt x="39688" y="145494"/>
                </a:lnTo>
                <a:cubicBezTo>
                  <a:pt x="46593" y="133985"/>
                  <a:pt x="58976" y="127000"/>
                  <a:pt x="72390" y="127000"/>
                </a:cubicBezTo>
                <a:lnTo>
                  <a:pt x="147796" y="127000"/>
                </a:lnTo>
                <a:cubicBezTo>
                  <a:pt x="208201" y="24686"/>
                  <a:pt x="298291" y="19526"/>
                  <a:pt x="358537" y="28337"/>
                </a:cubicBezTo>
                <a:cubicBezTo>
                  <a:pt x="368697" y="29845"/>
                  <a:pt x="376634" y="37783"/>
                  <a:pt x="378063" y="47863"/>
                </a:cubicBezTo>
                <a:cubicBezTo>
                  <a:pt x="386874" y="108109"/>
                  <a:pt x="381714" y="198199"/>
                  <a:pt x="279400" y="258604"/>
                </a:cubicBezTo>
                <a:lnTo>
                  <a:pt x="279400" y="334010"/>
                </a:lnTo>
                <a:cubicBezTo>
                  <a:pt x="279400" y="347424"/>
                  <a:pt x="272415" y="359807"/>
                  <a:pt x="260906" y="366713"/>
                </a:cubicBezTo>
                <a:lnTo>
                  <a:pt x="190897" y="408702"/>
                </a:lnTo>
                <a:cubicBezTo>
                  <a:pt x="173990" y="418862"/>
                  <a:pt x="152400" y="406638"/>
                  <a:pt x="152400" y="386953"/>
                </a:cubicBezTo>
                <a:lnTo>
                  <a:pt x="152400" y="304800"/>
                </a:lnTo>
                <a:cubicBezTo>
                  <a:pt x="152400" y="276781"/>
                  <a:pt x="129619" y="254000"/>
                  <a:pt x="101600" y="254000"/>
                </a:cubicBezTo>
                <a:lnTo>
                  <a:pt x="101521" y="254000"/>
                </a:lnTo>
                <a:close/>
                <a:moveTo>
                  <a:pt x="317500" y="127000"/>
                </a:moveTo>
                <a:cubicBezTo>
                  <a:pt x="317500" y="105972"/>
                  <a:pt x="300428" y="88900"/>
                  <a:pt x="279400" y="88900"/>
                </a:cubicBezTo>
                <a:cubicBezTo>
                  <a:pt x="258372" y="88900"/>
                  <a:pt x="241300" y="105972"/>
                  <a:pt x="241300" y="127000"/>
                </a:cubicBezTo>
                <a:cubicBezTo>
                  <a:pt x="241300" y="148028"/>
                  <a:pt x="258372" y="165100"/>
                  <a:pt x="279400" y="165100"/>
                </a:cubicBezTo>
                <a:cubicBezTo>
                  <a:pt x="300428" y="165100"/>
                  <a:pt x="317500" y="148028"/>
                  <a:pt x="317500" y="127000"/>
                </a:cubicBez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27" name="Text 25"/>
          <p:cNvSpPr/>
          <p:nvPr/>
        </p:nvSpPr>
        <p:spPr>
          <a:xfrm>
            <a:off x="11049000" y="47879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Fondation solide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049000" y="52197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Fondation pour l'adoption d'un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framework MVC complet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66040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27000" dist="50800" dir="5400000">
              <a:srgbClr val="000000">
                <a:alpha val="8235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143000" y="698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31" name="Text 29"/>
          <p:cNvSpPr/>
          <p:nvPr/>
        </p:nvSpPr>
        <p:spPr>
          <a:xfrm>
            <a:off x="1651000" y="6921500"/>
            <a:ext cx="1346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Cette architecture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 couches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est exactement celle utilisée par Laravel, Symfony et tous les frameworks PHP professionnels. Les concepts maîtrisés ici sont </a:t>
            </a:r>
            <a:pPr algn="l">
              <a:lnSpc>
                <a:spcPct val="16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directement transposables</a:t>
            </a:r>
            <a:pPr algn="l">
              <a:lnSpc>
                <a:spcPct val="16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62000" y="86995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100" kern="0" dirty="0">
                <a:solidFill>
                  <a:srgbClr val="8B7D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AMÉLIORATIONS APPORTÉES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4859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4erbgbvbrrpo/mnt/agents/output/php-professionnalisation/images/4_3_153_Software_Engineering_Purple.png">    </p:cNvPr>
          <p:cNvPicPr>
            <a:picLocks noChangeAspect="1"/>
          </p:cNvPicPr>
          <p:nvPr/>
        </p:nvPicPr>
        <p:blipFill>
          <a:blip r:embed="rId1"/>
          <a:srcRect l="7527" r="7527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1B2E">
                  <a:alpha val="91000"/>
                </a:srgbClr>
              </a:gs>
              <a:gs pos="60000">
                <a:srgbClr val="1E1B2E">
                  <a:alpha val="80000"/>
                </a:srgbClr>
              </a:gs>
              <a:gs pos="100000">
                <a:srgbClr val="1E1B2E">
                  <a:alpha val="6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254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683000"/>
            <a:ext cx="1016000" cy="381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3937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 spc="100" kern="0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62000" y="4826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Synthèse et perspectives</a:t>
            </a:r>
            <a:endParaRPr lang="en-US" sz="20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Synthèse et passage au niveau professionnel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41400"/>
            <a:ext cx="762000" cy="381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71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Synthèse des améliorations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1905000"/>
            <a:ext cx="7175500" cy="82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3922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1905000"/>
            <a:ext cx="63500" cy="8255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8" name="Shape 6"/>
          <p:cNvSpPr/>
          <p:nvPr/>
        </p:nvSpPr>
        <p:spPr>
          <a:xfrm>
            <a:off x="1016000" y="2108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923" y="714"/>
                </a:moveTo>
                <a:cubicBezTo>
                  <a:pt x="181928" y="-2203"/>
                  <a:pt x="172561" y="3691"/>
                  <a:pt x="169968" y="13811"/>
                </a:cubicBezTo>
                <a:lnTo>
                  <a:pt x="102235" y="280511"/>
                </a:lnTo>
                <a:cubicBezTo>
                  <a:pt x="99642" y="290632"/>
                  <a:pt x="104881" y="301169"/>
                  <a:pt x="113877" y="304086"/>
                </a:cubicBezTo>
                <a:cubicBezTo>
                  <a:pt x="122872" y="307003"/>
                  <a:pt x="132239" y="301109"/>
                  <a:pt x="134832" y="290989"/>
                </a:cubicBezTo>
                <a:lnTo>
                  <a:pt x="202565" y="24289"/>
                </a:lnTo>
                <a:cubicBezTo>
                  <a:pt x="205158" y="14168"/>
                  <a:pt x="199919" y="3631"/>
                  <a:pt x="190923" y="714"/>
                </a:cubicBezTo>
                <a:close/>
                <a:moveTo>
                  <a:pt x="225108" y="81736"/>
                </a:moveTo>
                <a:cubicBezTo>
                  <a:pt x="218493" y="89178"/>
                  <a:pt x="218493" y="101263"/>
                  <a:pt x="225108" y="108704"/>
                </a:cubicBezTo>
                <a:lnTo>
                  <a:pt x="263948" y="152400"/>
                </a:lnTo>
                <a:lnTo>
                  <a:pt x="225108" y="196096"/>
                </a:lnTo>
                <a:cubicBezTo>
                  <a:pt x="218493" y="203537"/>
                  <a:pt x="218493" y="215622"/>
                  <a:pt x="225108" y="223064"/>
                </a:cubicBezTo>
                <a:cubicBezTo>
                  <a:pt x="231722" y="230505"/>
                  <a:pt x="242464" y="230505"/>
                  <a:pt x="249079" y="223064"/>
                </a:cubicBezTo>
                <a:lnTo>
                  <a:pt x="299879" y="165914"/>
                </a:lnTo>
                <a:cubicBezTo>
                  <a:pt x="306493" y="158472"/>
                  <a:pt x="306493" y="146387"/>
                  <a:pt x="299879" y="138946"/>
                </a:cubicBezTo>
                <a:lnTo>
                  <a:pt x="249079" y="81796"/>
                </a:lnTo>
                <a:cubicBezTo>
                  <a:pt x="242464" y="74355"/>
                  <a:pt x="231722" y="74355"/>
                  <a:pt x="225108" y="81796"/>
                </a:cubicBezTo>
                <a:close/>
                <a:moveTo>
                  <a:pt x="79745" y="81736"/>
                </a:moveTo>
                <a:cubicBezTo>
                  <a:pt x="73131" y="74295"/>
                  <a:pt x="62389" y="74295"/>
                  <a:pt x="55774" y="81736"/>
                </a:cubicBezTo>
                <a:lnTo>
                  <a:pt x="4974" y="138886"/>
                </a:lnTo>
                <a:cubicBezTo>
                  <a:pt x="-1640" y="146328"/>
                  <a:pt x="-1640" y="158413"/>
                  <a:pt x="4974" y="165854"/>
                </a:cubicBezTo>
                <a:lnTo>
                  <a:pt x="55774" y="223004"/>
                </a:lnTo>
                <a:cubicBezTo>
                  <a:pt x="62389" y="230445"/>
                  <a:pt x="73131" y="230445"/>
                  <a:pt x="79745" y="223004"/>
                </a:cubicBezTo>
                <a:cubicBezTo>
                  <a:pt x="86360" y="215563"/>
                  <a:pt x="86360" y="203478"/>
                  <a:pt x="79745" y="196036"/>
                </a:cubicBezTo>
                <a:lnTo>
                  <a:pt x="40905" y="152400"/>
                </a:lnTo>
                <a:lnTo>
                  <a:pt x="79693" y="108704"/>
                </a:lnTo>
                <a:cubicBezTo>
                  <a:pt x="86307" y="101263"/>
                  <a:pt x="86307" y="89178"/>
                  <a:pt x="79693" y="81736"/>
                </a:cubicBez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9" name="Text 7"/>
          <p:cNvSpPr/>
          <p:nvPr/>
        </p:nvSpPr>
        <p:spPr>
          <a:xfrm>
            <a:off x="1460500" y="19685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Fonctions modernes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array_*, closures, arrow functions (fn)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0" y="1905000"/>
            <a:ext cx="7175500" cy="82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3922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18500" y="1905000"/>
            <a:ext cx="63500" cy="8255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572500" y="2108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843" y="141208"/>
                </a:moveTo>
                <a:cubicBezTo>
                  <a:pt x="271796" y="148233"/>
                  <a:pt x="280321" y="149781"/>
                  <a:pt x="286750" y="144482"/>
                </a:cubicBezTo>
                <a:cubicBezTo>
                  <a:pt x="293751" y="138648"/>
                  <a:pt x="295656" y="126802"/>
                  <a:pt x="290989" y="118050"/>
                </a:cubicBezTo>
                <a:lnTo>
                  <a:pt x="268129" y="75188"/>
                </a:lnTo>
                <a:cubicBezTo>
                  <a:pt x="266795" y="72688"/>
                  <a:pt x="264985" y="70604"/>
                  <a:pt x="262842" y="69116"/>
                </a:cubicBezTo>
                <a:lnTo>
                  <a:pt x="167354" y="2798"/>
                </a:lnTo>
                <a:cubicBezTo>
                  <a:pt x="158163" y="-3572"/>
                  <a:pt x="146971" y="-3572"/>
                  <a:pt x="137731" y="2798"/>
                </a:cubicBezTo>
                <a:lnTo>
                  <a:pt x="42291" y="69056"/>
                </a:lnTo>
                <a:cubicBezTo>
                  <a:pt x="39719" y="70842"/>
                  <a:pt x="37671" y="73462"/>
                  <a:pt x="36290" y="76676"/>
                </a:cubicBezTo>
                <a:lnTo>
                  <a:pt x="13192" y="130195"/>
                </a:lnTo>
                <a:cubicBezTo>
                  <a:pt x="7191" y="144125"/>
                  <a:pt x="11382" y="161449"/>
                  <a:pt x="22527" y="168950"/>
                </a:cubicBezTo>
                <a:lnTo>
                  <a:pt x="38243" y="179487"/>
                </a:lnTo>
                <a:lnTo>
                  <a:pt x="38243" y="211217"/>
                </a:lnTo>
                <a:cubicBezTo>
                  <a:pt x="38243" y="224909"/>
                  <a:pt x="44148" y="237589"/>
                  <a:pt x="53673" y="244376"/>
                </a:cubicBezTo>
                <a:lnTo>
                  <a:pt x="137493" y="303728"/>
                </a:lnTo>
                <a:cubicBezTo>
                  <a:pt x="146828" y="310336"/>
                  <a:pt x="158210" y="310336"/>
                  <a:pt x="167545" y="303728"/>
                </a:cubicBezTo>
                <a:lnTo>
                  <a:pt x="251365" y="244376"/>
                </a:lnTo>
                <a:cubicBezTo>
                  <a:pt x="260937" y="237589"/>
                  <a:pt x="266795" y="224969"/>
                  <a:pt x="266795" y="211217"/>
                </a:cubicBezTo>
                <a:lnTo>
                  <a:pt x="266795" y="141268"/>
                </a:lnTo>
                <a:close/>
                <a:moveTo>
                  <a:pt x="152543" y="135374"/>
                </a:moveTo>
                <a:lnTo>
                  <a:pt x="81058" y="85725"/>
                </a:lnTo>
                <a:lnTo>
                  <a:pt x="152543" y="36076"/>
                </a:lnTo>
                <a:lnTo>
                  <a:pt x="224028" y="85725"/>
                </a:lnTo>
                <a:lnTo>
                  <a:pt x="152543" y="135374"/>
                </a:lnTo>
                <a:close/>
                <a:moveTo>
                  <a:pt x="132778" y="165259"/>
                </a:moveTo>
                <a:lnTo>
                  <a:pt x="122634" y="192762"/>
                </a:lnTo>
                <a:lnTo>
                  <a:pt x="43672" y="139898"/>
                </a:lnTo>
                <a:lnTo>
                  <a:pt x="55769" y="111800"/>
                </a:lnTo>
                <a:lnTo>
                  <a:pt x="132778" y="165259"/>
                </a:ln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13" name="Text 11"/>
          <p:cNvSpPr/>
          <p:nvPr/>
        </p:nvSpPr>
        <p:spPr>
          <a:xfrm>
            <a:off x="9017000" y="19685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Gestion des dépendances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Composer et Packagist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2984500"/>
            <a:ext cx="7175500" cy="82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3922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2000" y="2984500"/>
            <a:ext cx="63500" cy="8255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6000" y="3187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lnTo>
                  <a:pt x="171450" y="19050"/>
                </a:lnTo>
                <a:cubicBezTo>
                  <a:pt x="181987" y="19050"/>
                  <a:pt x="190500" y="27563"/>
                  <a:pt x="190500" y="3810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166688" y="95250"/>
                </a:lnTo>
                <a:lnTo>
                  <a:pt x="166688" y="133350"/>
                </a:lnTo>
                <a:lnTo>
                  <a:pt x="238125" y="133350"/>
                </a:lnTo>
                <a:cubicBezTo>
                  <a:pt x="261818" y="133350"/>
                  <a:pt x="280987" y="152519"/>
                  <a:pt x="280987" y="176212"/>
                </a:cubicBezTo>
                <a:lnTo>
                  <a:pt x="280987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47650" y="285750"/>
                </a:lnTo>
                <a:cubicBezTo>
                  <a:pt x="237113" y="285750"/>
                  <a:pt x="228600" y="277237"/>
                  <a:pt x="228600" y="266700"/>
                </a:cubicBezTo>
                <a:lnTo>
                  <a:pt x="228600" y="228600"/>
                </a:lnTo>
                <a:cubicBezTo>
                  <a:pt x="228600" y="218063"/>
                  <a:pt x="237113" y="209550"/>
                  <a:pt x="247650" y="209550"/>
                </a:cubicBezTo>
                <a:lnTo>
                  <a:pt x="252413" y="209550"/>
                </a:lnTo>
                <a:lnTo>
                  <a:pt x="252413" y="176212"/>
                </a:lnTo>
                <a:cubicBezTo>
                  <a:pt x="252413" y="168295"/>
                  <a:pt x="246043" y="161925"/>
                  <a:pt x="238125" y="161925"/>
                </a:cubicBezTo>
                <a:lnTo>
                  <a:pt x="166688" y="161925"/>
                </a:lnTo>
                <a:lnTo>
                  <a:pt x="166688" y="209550"/>
                </a:lnTo>
                <a:lnTo>
                  <a:pt x="171450" y="209550"/>
                </a:lnTo>
                <a:cubicBezTo>
                  <a:pt x="181987" y="209550"/>
                  <a:pt x="190500" y="218063"/>
                  <a:pt x="190500" y="228600"/>
                </a:cubicBezTo>
                <a:lnTo>
                  <a:pt x="190500" y="266700"/>
                </a:lnTo>
                <a:cubicBezTo>
                  <a:pt x="190500" y="277237"/>
                  <a:pt x="181987" y="285750"/>
                  <a:pt x="171450" y="285750"/>
                </a:cubicBezTo>
                <a:lnTo>
                  <a:pt x="133350" y="285750"/>
                </a:lnTo>
                <a:cubicBezTo>
                  <a:pt x="122813" y="285750"/>
                  <a:pt x="114300" y="277237"/>
                  <a:pt x="114300" y="266700"/>
                </a:cubicBezTo>
                <a:lnTo>
                  <a:pt x="114300" y="228600"/>
                </a:lnTo>
                <a:cubicBezTo>
                  <a:pt x="114300" y="218063"/>
                  <a:pt x="122813" y="209550"/>
                  <a:pt x="133350" y="209550"/>
                </a:cubicBezTo>
                <a:lnTo>
                  <a:pt x="138113" y="209550"/>
                </a:lnTo>
                <a:lnTo>
                  <a:pt x="138113" y="161925"/>
                </a:lnTo>
                <a:lnTo>
                  <a:pt x="66675" y="161925"/>
                </a:lnTo>
                <a:cubicBezTo>
                  <a:pt x="58757" y="161925"/>
                  <a:pt x="52388" y="168295"/>
                  <a:pt x="52388" y="176212"/>
                </a:cubicBezTo>
                <a:lnTo>
                  <a:pt x="52388" y="209550"/>
                </a:lnTo>
                <a:lnTo>
                  <a:pt x="57150" y="209550"/>
                </a:lnTo>
                <a:cubicBezTo>
                  <a:pt x="67687" y="209550"/>
                  <a:pt x="76200" y="218063"/>
                  <a:pt x="76200" y="228600"/>
                </a:cubicBezTo>
                <a:lnTo>
                  <a:pt x="76200" y="266700"/>
                </a:lnTo>
                <a:cubicBezTo>
                  <a:pt x="76200" y="277237"/>
                  <a:pt x="67687" y="285750"/>
                  <a:pt x="571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28600"/>
                </a:lnTo>
                <a:cubicBezTo>
                  <a:pt x="0" y="218063"/>
                  <a:pt x="8513" y="209550"/>
                  <a:pt x="19050" y="209550"/>
                </a:cubicBezTo>
                <a:lnTo>
                  <a:pt x="23813" y="209550"/>
                </a:lnTo>
                <a:lnTo>
                  <a:pt x="23813" y="176212"/>
                </a:lnTo>
                <a:cubicBezTo>
                  <a:pt x="23813" y="152519"/>
                  <a:pt x="42982" y="133350"/>
                  <a:pt x="66675" y="133350"/>
                </a:cubicBezTo>
                <a:lnTo>
                  <a:pt x="138113" y="133350"/>
                </a:lnTo>
                <a:lnTo>
                  <a:pt x="138113" y="95250"/>
                </a:lnTo>
                <a:lnTo>
                  <a:pt x="133350" y="95250"/>
                </a:lnTo>
                <a:cubicBezTo>
                  <a:pt x="122813" y="95250"/>
                  <a:pt x="114300" y="86737"/>
                  <a:pt x="114300" y="762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17" name="Text 15"/>
          <p:cNvSpPr/>
          <p:nvPr/>
        </p:nvSpPr>
        <p:spPr>
          <a:xfrm>
            <a:off x="1460500" y="3048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Organisation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namespaces et autoloading PSR-4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18500" y="2984500"/>
            <a:ext cx="7175500" cy="82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3922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18500" y="2984500"/>
            <a:ext cx="63500" cy="8255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572500" y="3187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21" name="Text 19"/>
          <p:cNvSpPr/>
          <p:nvPr/>
        </p:nvSpPr>
        <p:spPr>
          <a:xfrm>
            <a:off x="9017000" y="3048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: séparation Controller/Service/Repository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4191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Préparation aux frameworks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62000" y="4762500"/>
            <a:ext cx="7175500" cy="336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98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2000" y="4762500"/>
            <a:ext cx="7175500" cy="63500"/>
          </a:xfrm>
          <a:prstGeom prst="rect">
            <a:avLst/>
          </a:prstGeom>
          <a:solidFill>
            <a:srgbClr val="FF2D20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6000" y="5054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0460" y="80427"/>
                </a:moveTo>
                <a:cubicBezTo>
                  <a:pt x="350391" y="80288"/>
                  <a:pt x="350322" y="80079"/>
                  <a:pt x="350252" y="79941"/>
                </a:cubicBezTo>
                <a:cubicBezTo>
                  <a:pt x="350183" y="79663"/>
                  <a:pt x="350044" y="79385"/>
                  <a:pt x="349905" y="79107"/>
                </a:cubicBezTo>
                <a:cubicBezTo>
                  <a:pt x="349766" y="78968"/>
                  <a:pt x="349696" y="78760"/>
                  <a:pt x="349558" y="78621"/>
                </a:cubicBezTo>
                <a:cubicBezTo>
                  <a:pt x="349419" y="78413"/>
                  <a:pt x="349210" y="78204"/>
                  <a:pt x="349071" y="77996"/>
                </a:cubicBezTo>
                <a:cubicBezTo>
                  <a:pt x="348933" y="77857"/>
                  <a:pt x="348724" y="77718"/>
                  <a:pt x="348516" y="77579"/>
                </a:cubicBezTo>
                <a:cubicBezTo>
                  <a:pt x="348307" y="77440"/>
                  <a:pt x="348099" y="77232"/>
                  <a:pt x="347891" y="77093"/>
                </a:cubicBezTo>
                <a:lnTo>
                  <a:pt x="281007" y="38546"/>
                </a:lnTo>
                <a:cubicBezTo>
                  <a:pt x="280174" y="38060"/>
                  <a:pt x="279202" y="37783"/>
                  <a:pt x="278229" y="37783"/>
                </a:cubicBezTo>
                <a:cubicBezTo>
                  <a:pt x="277257" y="37783"/>
                  <a:pt x="276285" y="38060"/>
                  <a:pt x="275451" y="38546"/>
                </a:cubicBezTo>
                <a:lnTo>
                  <a:pt x="208568" y="77093"/>
                </a:lnTo>
                <a:cubicBezTo>
                  <a:pt x="208359" y="77232"/>
                  <a:pt x="208151" y="77371"/>
                  <a:pt x="207943" y="77579"/>
                </a:cubicBezTo>
                <a:cubicBezTo>
                  <a:pt x="207734" y="77718"/>
                  <a:pt x="207595" y="77857"/>
                  <a:pt x="207387" y="77996"/>
                </a:cubicBezTo>
                <a:cubicBezTo>
                  <a:pt x="207179" y="78204"/>
                  <a:pt x="207040" y="78413"/>
                  <a:pt x="206901" y="78621"/>
                </a:cubicBezTo>
                <a:cubicBezTo>
                  <a:pt x="206762" y="78760"/>
                  <a:pt x="206623" y="78899"/>
                  <a:pt x="206554" y="79107"/>
                </a:cubicBezTo>
                <a:cubicBezTo>
                  <a:pt x="206415" y="79385"/>
                  <a:pt x="206276" y="79663"/>
                  <a:pt x="206206" y="79941"/>
                </a:cubicBezTo>
                <a:cubicBezTo>
                  <a:pt x="206137" y="80079"/>
                  <a:pt x="206067" y="80218"/>
                  <a:pt x="205998" y="80427"/>
                </a:cubicBezTo>
                <a:cubicBezTo>
                  <a:pt x="205859" y="80913"/>
                  <a:pt x="205790" y="81399"/>
                  <a:pt x="205790" y="81885"/>
                </a:cubicBezTo>
                <a:lnTo>
                  <a:pt x="205790" y="154950"/>
                </a:lnTo>
                <a:lnTo>
                  <a:pt x="150088" y="187037"/>
                </a:lnTo>
                <a:lnTo>
                  <a:pt x="150088" y="44033"/>
                </a:lnTo>
                <a:cubicBezTo>
                  <a:pt x="150088" y="43547"/>
                  <a:pt x="150019" y="43061"/>
                  <a:pt x="149880" y="42575"/>
                </a:cubicBezTo>
                <a:cubicBezTo>
                  <a:pt x="149810" y="42436"/>
                  <a:pt x="149741" y="42297"/>
                  <a:pt x="149671" y="42089"/>
                </a:cubicBezTo>
                <a:cubicBezTo>
                  <a:pt x="149602" y="41811"/>
                  <a:pt x="149463" y="41533"/>
                  <a:pt x="149324" y="41255"/>
                </a:cubicBezTo>
                <a:cubicBezTo>
                  <a:pt x="149255" y="41047"/>
                  <a:pt x="149046" y="40908"/>
                  <a:pt x="148977" y="40769"/>
                </a:cubicBezTo>
                <a:cubicBezTo>
                  <a:pt x="148838" y="40561"/>
                  <a:pt x="148630" y="40352"/>
                  <a:pt x="148491" y="40144"/>
                </a:cubicBezTo>
                <a:cubicBezTo>
                  <a:pt x="148352" y="40005"/>
                  <a:pt x="148144" y="39866"/>
                  <a:pt x="147935" y="39727"/>
                </a:cubicBezTo>
                <a:cubicBezTo>
                  <a:pt x="147727" y="39588"/>
                  <a:pt x="147518" y="39380"/>
                  <a:pt x="147310" y="39241"/>
                </a:cubicBezTo>
                <a:lnTo>
                  <a:pt x="80427" y="764"/>
                </a:lnTo>
                <a:cubicBezTo>
                  <a:pt x="79593" y="278"/>
                  <a:pt x="78621" y="0"/>
                  <a:pt x="77649" y="0"/>
                </a:cubicBezTo>
                <a:cubicBezTo>
                  <a:pt x="76676" y="0"/>
                  <a:pt x="75704" y="278"/>
                  <a:pt x="74870" y="764"/>
                </a:cubicBezTo>
                <a:lnTo>
                  <a:pt x="7987" y="39241"/>
                </a:lnTo>
                <a:cubicBezTo>
                  <a:pt x="7779" y="39380"/>
                  <a:pt x="7570" y="39519"/>
                  <a:pt x="7362" y="39727"/>
                </a:cubicBezTo>
                <a:cubicBezTo>
                  <a:pt x="7154" y="39866"/>
                  <a:pt x="7015" y="40005"/>
                  <a:pt x="6806" y="40144"/>
                </a:cubicBezTo>
                <a:cubicBezTo>
                  <a:pt x="6598" y="40352"/>
                  <a:pt x="6459" y="40561"/>
                  <a:pt x="6320" y="40769"/>
                </a:cubicBezTo>
                <a:cubicBezTo>
                  <a:pt x="6181" y="40977"/>
                  <a:pt x="6042" y="41116"/>
                  <a:pt x="5904" y="41255"/>
                </a:cubicBezTo>
                <a:cubicBezTo>
                  <a:pt x="5765" y="41533"/>
                  <a:pt x="5626" y="41811"/>
                  <a:pt x="5556" y="42089"/>
                </a:cubicBezTo>
                <a:cubicBezTo>
                  <a:pt x="5487" y="42228"/>
                  <a:pt x="5417" y="42366"/>
                  <a:pt x="5348" y="42575"/>
                </a:cubicBezTo>
                <a:cubicBezTo>
                  <a:pt x="5209" y="43061"/>
                  <a:pt x="5140" y="43547"/>
                  <a:pt x="5140" y="44033"/>
                </a:cubicBezTo>
                <a:lnTo>
                  <a:pt x="5140" y="273020"/>
                </a:lnTo>
                <a:cubicBezTo>
                  <a:pt x="5140" y="273993"/>
                  <a:pt x="5417" y="274965"/>
                  <a:pt x="5904" y="275798"/>
                </a:cubicBezTo>
                <a:cubicBezTo>
                  <a:pt x="6390" y="276632"/>
                  <a:pt x="7084" y="277326"/>
                  <a:pt x="7918" y="277813"/>
                </a:cubicBezTo>
                <a:lnTo>
                  <a:pt x="141684" y="354836"/>
                </a:lnTo>
                <a:cubicBezTo>
                  <a:pt x="141962" y="354975"/>
                  <a:pt x="142309" y="355114"/>
                  <a:pt x="142587" y="355183"/>
                </a:cubicBezTo>
                <a:cubicBezTo>
                  <a:pt x="142726" y="355253"/>
                  <a:pt x="142865" y="355322"/>
                  <a:pt x="143004" y="355392"/>
                </a:cubicBezTo>
                <a:cubicBezTo>
                  <a:pt x="143907" y="355669"/>
                  <a:pt x="144949" y="355669"/>
                  <a:pt x="145852" y="355392"/>
                </a:cubicBezTo>
                <a:cubicBezTo>
                  <a:pt x="145990" y="355322"/>
                  <a:pt x="146129" y="355253"/>
                  <a:pt x="146268" y="355253"/>
                </a:cubicBezTo>
                <a:cubicBezTo>
                  <a:pt x="146616" y="355114"/>
                  <a:pt x="146963" y="355044"/>
                  <a:pt x="147241" y="354836"/>
                </a:cubicBezTo>
                <a:lnTo>
                  <a:pt x="281007" y="277882"/>
                </a:lnTo>
                <a:cubicBezTo>
                  <a:pt x="281841" y="277396"/>
                  <a:pt x="282535" y="276701"/>
                  <a:pt x="283021" y="275868"/>
                </a:cubicBezTo>
                <a:cubicBezTo>
                  <a:pt x="283508" y="275034"/>
                  <a:pt x="283785" y="274062"/>
                  <a:pt x="283785" y="273090"/>
                </a:cubicBezTo>
                <a:lnTo>
                  <a:pt x="283785" y="199956"/>
                </a:lnTo>
                <a:lnTo>
                  <a:pt x="347821" y="163076"/>
                </a:lnTo>
                <a:cubicBezTo>
                  <a:pt x="348655" y="162590"/>
                  <a:pt x="349349" y="161895"/>
                  <a:pt x="349835" y="160992"/>
                </a:cubicBezTo>
                <a:cubicBezTo>
                  <a:pt x="350322" y="160089"/>
                  <a:pt x="350599" y="159187"/>
                  <a:pt x="350599" y="158214"/>
                </a:cubicBezTo>
                <a:lnTo>
                  <a:pt x="350599" y="81955"/>
                </a:lnTo>
                <a:cubicBezTo>
                  <a:pt x="350599" y="81469"/>
                  <a:pt x="350530" y="80982"/>
                  <a:pt x="350460" y="80496"/>
                </a:cubicBezTo>
                <a:close/>
                <a:moveTo>
                  <a:pt x="77649" y="12015"/>
                </a:moveTo>
                <a:lnTo>
                  <a:pt x="133350" y="44033"/>
                </a:lnTo>
                <a:lnTo>
                  <a:pt x="77649" y="76121"/>
                </a:lnTo>
                <a:lnTo>
                  <a:pt x="21947" y="44033"/>
                </a:lnTo>
                <a:lnTo>
                  <a:pt x="77649" y="11946"/>
                </a:lnTo>
                <a:close/>
                <a:moveTo>
                  <a:pt x="138906" y="53687"/>
                </a:moveTo>
                <a:lnTo>
                  <a:pt x="138906" y="193496"/>
                </a:lnTo>
                <a:cubicBezTo>
                  <a:pt x="115848" y="206762"/>
                  <a:pt x="97304" y="217458"/>
                  <a:pt x="83205" y="225584"/>
                </a:cubicBezTo>
                <a:lnTo>
                  <a:pt x="83205" y="85775"/>
                </a:lnTo>
                <a:cubicBezTo>
                  <a:pt x="106263" y="72509"/>
                  <a:pt x="124807" y="61813"/>
                  <a:pt x="138906" y="53687"/>
                </a:cubicBezTo>
                <a:close/>
                <a:moveTo>
                  <a:pt x="138906" y="340390"/>
                </a:moveTo>
                <a:lnTo>
                  <a:pt x="16321" y="269825"/>
                </a:lnTo>
                <a:lnTo>
                  <a:pt x="16321" y="53687"/>
                </a:lnTo>
                <a:cubicBezTo>
                  <a:pt x="30420" y="61813"/>
                  <a:pt x="49034" y="72509"/>
                  <a:pt x="72023" y="85775"/>
                </a:cubicBezTo>
                <a:lnTo>
                  <a:pt x="72023" y="235238"/>
                </a:lnTo>
                <a:cubicBezTo>
                  <a:pt x="72023" y="235446"/>
                  <a:pt x="72092" y="235654"/>
                  <a:pt x="72092" y="235863"/>
                </a:cubicBezTo>
                <a:cubicBezTo>
                  <a:pt x="72092" y="236141"/>
                  <a:pt x="72162" y="236418"/>
                  <a:pt x="72231" y="236696"/>
                </a:cubicBezTo>
                <a:cubicBezTo>
                  <a:pt x="72301" y="236905"/>
                  <a:pt x="72370" y="237113"/>
                  <a:pt x="72509" y="237321"/>
                </a:cubicBezTo>
                <a:cubicBezTo>
                  <a:pt x="72579" y="237530"/>
                  <a:pt x="72717" y="237807"/>
                  <a:pt x="72787" y="238016"/>
                </a:cubicBezTo>
                <a:cubicBezTo>
                  <a:pt x="72926" y="238224"/>
                  <a:pt x="73065" y="238363"/>
                  <a:pt x="73204" y="238571"/>
                </a:cubicBezTo>
                <a:cubicBezTo>
                  <a:pt x="73343" y="238780"/>
                  <a:pt x="73481" y="238988"/>
                  <a:pt x="73690" y="239127"/>
                </a:cubicBezTo>
                <a:cubicBezTo>
                  <a:pt x="73829" y="239266"/>
                  <a:pt x="74037" y="239405"/>
                  <a:pt x="74245" y="239544"/>
                </a:cubicBezTo>
                <a:cubicBezTo>
                  <a:pt x="74454" y="239683"/>
                  <a:pt x="74662" y="239891"/>
                  <a:pt x="74870" y="240030"/>
                </a:cubicBezTo>
                <a:lnTo>
                  <a:pt x="138906" y="276285"/>
                </a:lnTo>
                <a:lnTo>
                  <a:pt x="138976" y="340459"/>
                </a:lnTo>
                <a:close/>
                <a:moveTo>
                  <a:pt x="144463" y="266631"/>
                </a:moveTo>
                <a:lnTo>
                  <a:pt x="88900" y="235168"/>
                </a:lnTo>
                <a:cubicBezTo>
                  <a:pt x="126891" y="213291"/>
                  <a:pt x="167729" y="189815"/>
                  <a:pt x="211346" y="164673"/>
                </a:cubicBezTo>
                <a:lnTo>
                  <a:pt x="266978" y="196691"/>
                </a:lnTo>
                <a:cubicBezTo>
                  <a:pt x="246559" y="208359"/>
                  <a:pt x="205720" y="231626"/>
                  <a:pt x="144463" y="266631"/>
                </a:cubicBezTo>
                <a:close/>
                <a:moveTo>
                  <a:pt x="272604" y="269825"/>
                </a:moveTo>
                <a:lnTo>
                  <a:pt x="150019" y="340390"/>
                </a:lnTo>
                <a:lnTo>
                  <a:pt x="150019" y="276285"/>
                </a:lnTo>
                <a:cubicBezTo>
                  <a:pt x="220444" y="236141"/>
                  <a:pt x="261283" y="212804"/>
                  <a:pt x="272604" y="206276"/>
                </a:cubicBezTo>
                <a:lnTo>
                  <a:pt x="272604" y="269756"/>
                </a:lnTo>
                <a:close/>
                <a:moveTo>
                  <a:pt x="272604" y="187107"/>
                </a:moveTo>
                <a:cubicBezTo>
                  <a:pt x="258505" y="179050"/>
                  <a:pt x="239891" y="168354"/>
                  <a:pt x="216902" y="155089"/>
                </a:cubicBezTo>
                <a:lnTo>
                  <a:pt x="216902" y="91609"/>
                </a:lnTo>
                <a:cubicBezTo>
                  <a:pt x="231001" y="99735"/>
                  <a:pt x="249615" y="110430"/>
                  <a:pt x="272604" y="123696"/>
                </a:cubicBezTo>
                <a:lnTo>
                  <a:pt x="272604" y="187107"/>
                </a:lnTo>
                <a:close/>
                <a:moveTo>
                  <a:pt x="278160" y="113973"/>
                </a:moveTo>
                <a:lnTo>
                  <a:pt x="222458" y="81885"/>
                </a:lnTo>
                <a:lnTo>
                  <a:pt x="278160" y="49798"/>
                </a:lnTo>
                <a:lnTo>
                  <a:pt x="333861" y="81816"/>
                </a:lnTo>
                <a:lnTo>
                  <a:pt x="278160" y="113903"/>
                </a:lnTo>
                <a:close/>
                <a:moveTo>
                  <a:pt x="283716" y="187107"/>
                </a:moveTo>
                <a:lnTo>
                  <a:pt x="283716" y="123696"/>
                </a:lnTo>
                <a:cubicBezTo>
                  <a:pt x="306774" y="110430"/>
                  <a:pt x="325388" y="99735"/>
                  <a:pt x="339487" y="91609"/>
                </a:cubicBezTo>
                <a:lnTo>
                  <a:pt x="339487" y="155089"/>
                </a:lnTo>
                <a:lnTo>
                  <a:pt x="283716" y="187176"/>
                </a:lnTo>
                <a:close/>
              </a:path>
            </a:pathLst>
          </a:custGeom>
          <a:solidFill>
            <a:srgbClr val="FF2D20"/>
          </a:solidFill>
          <a:ln/>
        </p:spPr>
      </p:sp>
      <p:sp>
        <p:nvSpPr>
          <p:cNvPr id="26" name="Text 24"/>
          <p:cNvSpPr/>
          <p:nvPr/>
        </p:nvSpPr>
        <p:spPr>
          <a:xfrm>
            <a:off x="1498600" y="5054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Laravel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16000" y="5588000"/>
            <a:ext cx="66675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Eloquent ORM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Active Record pour la base de données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Blade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Moteur de templates puissant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Artisan CLI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Commandes pour générer du code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Routing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Définition expressive des routes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Middleware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Filtrage des requêtes HTTP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18500" y="4762500"/>
            <a:ext cx="7175500" cy="336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5098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18500" y="4762500"/>
            <a:ext cx="7175500" cy="63500"/>
          </a:xfrm>
          <a:prstGeom prst="rect">
            <a:avLst/>
          </a:prstGeom>
          <a:solidFill>
            <a:srgbClr val="5B4B8A"/>
          </a:solidFill>
          <a:ln/>
        </p:spPr>
      </p:sp>
      <p:sp>
        <p:nvSpPr>
          <p:cNvPr id="30" name="Shape 28"/>
          <p:cNvSpPr/>
          <p:nvPr/>
        </p:nvSpPr>
        <p:spPr>
          <a:xfrm>
            <a:off x="8572500" y="5054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783" y="-1736"/>
                </a:moveTo>
                <a:cubicBezTo>
                  <a:pt x="169535" y="-9654"/>
                  <a:pt x="186482" y="-9654"/>
                  <a:pt x="200233" y="-1736"/>
                </a:cubicBezTo>
                <a:lnTo>
                  <a:pt x="322401" y="68759"/>
                </a:lnTo>
                <a:cubicBezTo>
                  <a:pt x="336153" y="76676"/>
                  <a:pt x="344626" y="91400"/>
                  <a:pt x="344626" y="107236"/>
                </a:cubicBezTo>
                <a:lnTo>
                  <a:pt x="344626" y="248225"/>
                </a:lnTo>
                <a:cubicBezTo>
                  <a:pt x="344626" y="264130"/>
                  <a:pt x="336153" y="278785"/>
                  <a:pt x="322401" y="286702"/>
                </a:cubicBezTo>
                <a:lnTo>
                  <a:pt x="200233" y="357336"/>
                </a:lnTo>
                <a:cubicBezTo>
                  <a:pt x="186482" y="365254"/>
                  <a:pt x="169535" y="365254"/>
                  <a:pt x="155783" y="357336"/>
                </a:cubicBezTo>
                <a:lnTo>
                  <a:pt x="33685" y="286841"/>
                </a:lnTo>
                <a:cubicBezTo>
                  <a:pt x="19933" y="278924"/>
                  <a:pt x="11460" y="264200"/>
                  <a:pt x="11460" y="248364"/>
                </a:cubicBezTo>
                <a:lnTo>
                  <a:pt x="11460" y="107375"/>
                </a:lnTo>
                <a:cubicBezTo>
                  <a:pt x="11460" y="91470"/>
                  <a:pt x="19933" y="76815"/>
                  <a:pt x="33685" y="68898"/>
                </a:cubicBezTo>
                <a:lnTo>
                  <a:pt x="155783" y="-1736"/>
                </a:lnTo>
                <a:close/>
                <a:moveTo>
                  <a:pt x="300107" y="248295"/>
                </a:moveTo>
                <a:lnTo>
                  <a:pt x="300107" y="132933"/>
                </a:lnTo>
                <a:lnTo>
                  <a:pt x="200233" y="190579"/>
                </a:lnTo>
                <a:lnTo>
                  <a:pt x="200233" y="305941"/>
                </a:lnTo>
                <a:lnTo>
                  <a:pt x="300107" y="248295"/>
                </a:lnTo>
                <a:close/>
              </a:path>
            </a:pathLst>
          </a:custGeom>
          <a:solidFill>
            <a:srgbClr val="5B4B8A"/>
          </a:solidFill>
          <a:ln/>
        </p:spPr>
      </p:sp>
      <p:sp>
        <p:nvSpPr>
          <p:cNvPr id="31" name="Text 29"/>
          <p:cNvSpPr/>
          <p:nvPr/>
        </p:nvSpPr>
        <p:spPr>
          <a:xfrm>
            <a:off x="9055100" y="5054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5B4B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Symfony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572500" y="5588000"/>
            <a:ext cx="66675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Doctrine ORM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Data Mapper pour la persistance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Twig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Moteur de templates sécurisé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Console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Composant CLI robuste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Components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Bibliothèques réutilisables</a:t>
            </a:r>
            <a:endParaRPr lang="en-US" sz="1600" dirty="0"/>
          </a:p>
          <a:p>
            <a:pPr algn="l">
              <a:lnSpc>
                <a:spcPct val="170000"/>
              </a:lnSpc>
            </a:pPr>
            <a:r>
              <a:rPr lang="en-US" sz="1600" dirty="0">
                <a:solidFill>
                  <a:srgbClr val="9B6D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</a:t>
            </a:r>
            <a:pPr algn="l">
              <a:lnSpc>
                <a:spcPct val="170000"/>
              </a:lnSpc>
            </a:pPr>
            <a:r>
              <a:rPr lang="en-US" sz="1600" b="1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</a:t>
            </a:r>
            <a:pPr algn="l">
              <a:lnSpc>
                <a:spcPct val="170000"/>
              </a:lnSpc>
            </a:pPr>
            <a:r>
              <a:rPr lang="en-US" sz="1600" dirty="0">
                <a:solidFill>
                  <a:srgbClr val="1E1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Installation automatique de recipes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86995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100" kern="0" dirty="0">
                <a:solidFill>
                  <a:srgbClr val="8B7DA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4859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8B7DA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4erbgbvbrrpo/mnt/agents/output/php-professionnalisation/images/6_Abstract_Digital_Coding_Background.png">    </p:cNvPr>
          <p:cNvPicPr>
            <a:picLocks noChangeAspect="1"/>
          </p:cNvPicPr>
          <p:nvPr/>
        </p:nvPicPr>
        <p:blipFill>
          <a:blip r:embed="rId1"/>
          <a:srcRect l="0" r="0" t="873" b="873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1B2E">
                  <a:alpha val="90000"/>
                </a:srgbClr>
              </a:gs>
              <a:gs pos="50000">
                <a:srgbClr val="1E1B2E">
                  <a:alpha val="80000"/>
                </a:srgbClr>
              </a:gs>
              <a:gs pos="100000">
                <a:srgbClr val="1E1B2E">
                  <a:alpha val="90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5" name="Shape 2"/>
          <p:cNvSpPr/>
          <p:nvPr/>
        </p:nvSpPr>
        <p:spPr>
          <a:xfrm>
            <a:off x="7493000" y="2540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795514" y="2977"/>
                </a:moveTo>
                <a:cubicBezTo>
                  <a:pt x="758031" y="-9178"/>
                  <a:pt x="719005" y="15379"/>
                  <a:pt x="708201" y="57547"/>
                </a:cubicBezTo>
                <a:lnTo>
                  <a:pt x="425979" y="1168797"/>
                </a:lnTo>
                <a:cubicBezTo>
                  <a:pt x="415175" y="1210965"/>
                  <a:pt x="437003" y="1254869"/>
                  <a:pt x="474486" y="1267023"/>
                </a:cubicBezTo>
                <a:cubicBezTo>
                  <a:pt x="511969" y="1279178"/>
                  <a:pt x="550995" y="1254621"/>
                  <a:pt x="561799" y="1212453"/>
                </a:cubicBezTo>
                <a:lnTo>
                  <a:pt x="844021" y="101203"/>
                </a:lnTo>
                <a:cubicBezTo>
                  <a:pt x="854825" y="59035"/>
                  <a:pt x="832997" y="15131"/>
                  <a:pt x="795514" y="2977"/>
                </a:cubicBezTo>
                <a:close/>
                <a:moveTo>
                  <a:pt x="937948" y="340568"/>
                </a:moveTo>
                <a:cubicBezTo>
                  <a:pt x="910387" y="371574"/>
                  <a:pt x="910387" y="421928"/>
                  <a:pt x="937948" y="452934"/>
                </a:cubicBezTo>
                <a:lnTo>
                  <a:pt x="1099785" y="635000"/>
                </a:lnTo>
                <a:lnTo>
                  <a:pt x="937948" y="817066"/>
                </a:lnTo>
                <a:cubicBezTo>
                  <a:pt x="910387" y="848072"/>
                  <a:pt x="910387" y="898426"/>
                  <a:pt x="937948" y="929432"/>
                </a:cubicBezTo>
                <a:cubicBezTo>
                  <a:pt x="965509" y="960437"/>
                  <a:pt x="1010267" y="960437"/>
                  <a:pt x="1037828" y="929432"/>
                </a:cubicBezTo>
                <a:lnTo>
                  <a:pt x="1249495" y="691307"/>
                </a:lnTo>
                <a:cubicBezTo>
                  <a:pt x="1277056" y="660301"/>
                  <a:pt x="1277056" y="609947"/>
                  <a:pt x="1249495" y="578941"/>
                </a:cubicBezTo>
                <a:lnTo>
                  <a:pt x="1037828" y="340816"/>
                </a:lnTo>
                <a:cubicBezTo>
                  <a:pt x="1010267" y="309811"/>
                  <a:pt x="965509" y="309811"/>
                  <a:pt x="937948" y="340816"/>
                </a:cubicBezTo>
                <a:close/>
                <a:moveTo>
                  <a:pt x="332273" y="340568"/>
                </a:moveTo>
                <a:cubicBezTo>
                  <a:pt x="304712" y="309562"/>
                  <a:pt x="259953" y="309562"/>
                  <a:pt x="232392" y="340568"/>
                </a:cubicBezTo>
                <a:lnTo>
                  <a:pt x="20726" y="578693"/>
                </a:lnTo>
                <a:cubicBezTo>
                  <a:pt x="-6835" y="609699"/>
                  <a:pt x="-6835" y="660053"/>
                  <a:pt x="20726" y="691059"/>
                </a:cubicBezTo>
                <a:lnTo>
                  <a:pt x="232392" y="929184"/>
                </a:lnTo>
                <a:cubicBezTo>
                  <a:pt x="259953" y="960189"/>
                  <a:pt x="304712" y="960189"/>
                  <a:pt x="332273" y="929184"/>
                </a:cubicBezTo>
                <a:cubicBezTo>
                  <a:pt x="359833" y="898178"/>
                  <a:pt x="359833" y="847824"/>
                  <a:pt x="332273" y="816818"/>
                </a:cubicBezTo>
                <a:lnTo>
                  <a:pt x="170436" y="635000"/>
                </a:lnTo>
                <a:lnTo>
                  <a:pt x="332052" y="452934"/>
                </a:lnTo>
                <a:cubicBezTo>
                  <a:pt x="359613" y="421928"/>
                  <a:pt x="359613" y="371574"/>
                  <a:pt x="332052" y="340568"/>
                </a:cubicBezTo>
                <a:close/>
              </a:path>
            </a:pathLst>
          </a:custGeom>
          <a:solidFill>
            <a:srgbClr val="9B6DFF"/>
          </a:solidFill>
          <a:ln/>
        </p:spPr>
      </p:sp>
      <p:sp>
        <p:nvSpPr>
          <p:cNvPr id="6" name="Text 3"/>
          <p:cNvSpPr/>
          <p:nvPr/>
        </p:nvSpPr>
        <p:spPr>
          <a:xfrm>
            <a:off x="3048000" y="4064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spc="200" kern="0" dirty="0">
                <a:solidFill>
                  <a:srgbClr val="F5F3F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Merci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6858000" y="5143500"/>
            <a:ext cx="2540000" cy="25400"/>
          </a:xfrm>
          <a:prstGeom prst="rect">
            <a:avLst/>
          </a:prstGeom>
          <a:solidFill>
            <a:srgbClr val="9B6DFF"/>
          </a:solidFill>
          <a:ln/>
        </p:spPr>
      </p:sp>
      <p:sp>
        <p:nvSpPr>
          <p:cNvPr id="8" name="Text 5"/>
          <p:cNvSpPr/>
          <p:nvPr/>
        </p:nvSpPr>
        <p:spPr>
          <a:xfrm>
            <a:off x="3048000" y="5397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 questions 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318000" y="6350000"/>
            <a:ext cx="7620000" cy="571500"/>
          </a:xfrm>
          <a:prstGeom prst="roundRect">
            <a:avLst>
              <a:gd name="adj" fmla="val 8000"/>
            </a:avLst>
          </a:prstGeom>
          <a:solidFill>
            <a:srgbClr val="9B6DFF">
              <a:alpha val="14510"/>
            </a:srgbClr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18000" y="6350000"/>
            <a:ext cx="762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spc="200" kern="0" dirty="0">
                <a:solidFill>
                  <a:srgbClr val="9B6D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PARTIE B : PROFESSIONNALISATION ET OUTILS MODERNES EN PHP</a:t>
            </a:r>
            <a:endParaRPr lang="en-US" sz="15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Partie B : Professionnalisation et Outils Modernes en PHP</dc:title>
  <dc:subject>Partie B : Professionnalisation et Outils Modernes en PHP</dc:subject>
  <dc:creator>Kimi</dc:creator>
  <cp:lastModifiedBy>Kimi</cp:lastModifiedBy>
  <cp:revision>1</cp:revision>
  <dcterms:created xsi:type="dcterms:W3CDTF">2026-06-28T03:03:31Z</dcterms:created>
  <dcterms:modified xsi:type="dcterms:W3CDTF">2026-06-28T03:03:31Z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{"Label":"Partie B : Professionnalisation et Outils Modernes en PHP","ContentProducer":"001191110108MACG2KBH8F10000","ProduceID":"19f0c1c9-f9a2-85fd-8000-000036ecee53","ReservedCode1":"","ContentPropagator":"001191110108MACG2KBH8F20000","PropagateID":"19f0c1a0-5142-8215-8000-098126b2bdf6","ReservedCode2":""}</vt:lpwstr>
  </property>
</Properties>
</file>